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74" r:id="rId6"/>
    <p:sldId id="262" r:id="rId7"/>
    <p:sldId id="263" r:id="rId8"/>
    <p:sldId id="264" r:id="rId9"/>
    <p:sldId id="265" r:id="rId10"/>
    <p:sldId id="277" r:id="rId11"/>
    <p:sldId id="275" r:id="rId12"/>
    <p:sldId id="267" r:id="rId13"/>
    <p:sldId id="266" r:id="rId14"/>
    <p:sldId id="273" r:id="rId15"/>
    <p:sldId id="272" r:id="rId16"/>
    <p:sldId id="268" r:id="rId17"/>
    <p:sldId id="269" r:id="rId18"/>
  </p:sldIdLst>
  <p:sldSz cx="18288000" cy="10287000"/>
  <p:notesSz cx="6858000" cy="9144000"/>
  <p:embeddedFontLst>
    <p:embeddedFont>
      <p:font typeface="Open Sans Bold" panose="020B0604020202020204" charset="0"/>
      <p:regular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Telegraf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9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8222F-A393-474D-99DF-74A830D52278}" v="1" dt="2026-06-27T03:13:13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án Eduardo Silva Salinas" userId="205b366d-c7ec-465b-93be-ee59cd872036" providerId="ADAL" clId="{9309B313-5840-484A-921A-36E4EDD46CAE}"/>
    <pc:docChg chg="undo custSel addSld delSld modSld sldOrd">
      <pc:chgData name="Sebastián Eduardo Silva Salinas" userId="205b366d-c7ec-465b-93be-ee59cd872036" providerId="ADAL" clId="{9309B313-5840-484A-921A-36E4EDD46CAE}" dt="2026-06-27T03:13:59.735" v="426" actId="1076"/>
      <pc:docMkLst>
        <pc:docMk/>
      </pc:docMkLst>
      <pc:sldChg chg="modSp mod">
        <pc:chgData name="Sebastián Eduardo Silva Salinas" userId="205b366d-c7ec-465b-93be-ee59cd872036" providerId="ADAL" clId="{9309B313-5840-484A-921A-36E4EDD46CAE}" dt="2026-06-25T00:27:18.847" v="224" actId="20577"/>
        <pc:sldMkLst>
          <pc:docMk/>
          <pc:sldMk cId="0" sldId="256"/>
        </pc:sldMkLst>
        <pc:spChg chg="mod">
          <ac:chgData name="Sebastián Eduardo Silva Salinas" userId="205b366d-c7ec-465b-93be-ee59cd872036" providerId="ADAL" clId="{9309B313-5840-484A-921A-36E4EDD46CAE}" dt="2026-06-19T00:56:49.436" v="16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5T00:26:39.315" v="223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5T00:27:18.847" v="224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5T00:26:34.961" v="222" actId="1076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Sebastián Eduardo Silva Salinas" userId="205b366d-c7ec-465b-93be-ee59cd872036" providerId="ADAL" clId="{9309B313-5840-484A-921A-36E4EDD46CAE}" dt="2026-06-24T23:19:32.531" v="118" actId="108"/>
        <pc:sldMkLst>
          <pc:docMk/>
          <pc:sldMk cId="0" sldId="257"/>
        </pc:sldMkLst>
        <pc:spChg chg="mod">
          <ac:chgData name="Sebastián Eduardo Silva Salinas" userId="205b366d-c7ec-465b-93be-ee59cd872036" providerId="ADAL" clId="{9309B313-5840-484A-921A-36E4EDD46CAE}" dt="2026-06-19T00:56:29.291" v="15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19T00:57:11.319" v="17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19:32.531" v="118" actId="10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19:23.399" v="117" actId="10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19:14.689" v="116" actId="255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Sebastián Eduardo Silva Salinas" userId="205b366d-c7ec-465b-93be-ee59cd872036" providerId="ADAL" clId="{9309B313-5840-484A-921A-36E4EDD46CAE}" dt="2026-06-25T00:35:32.587" v="283" actId="20577"/>
        <pc:sldMkLst>
          <pc:docMk/>
          <pc:sldMk cId="0" sldId="258"/>
        </pc:sldMkLst>
        <pc:spChg chg="mod">
          <ac:chgData name="Sebastián Eduardo Silva Salinas" userId="205b366d-c7ec-465b-93be-ee59cd872036" providerId="ADAL" clId="{9309B313-5840-484A-921A-36E4EDD46CAE}" dt="2026-06-19T00:58:04.560" v="19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5T00:35:32.587" v="283" actId="20577"/>
          <ac:spMkLst>
            <pc:docMk/>
            <pc:sldMk cId="0" sldId="258"/>
            <ac:spMk id="6" creationId="{04EFA7FB-D78F-D8DE-3728-154AE7B769DC}"/>
          </ac:spMkLst>
        </pc:spChg>
      </pc:sldChg>
      <pc:sldChg chg="delSp modSp mod">
        <pc:chgData name="Sebastián Eduardo Silva Salinas" userId="205b366d-c7ec-465b-93be-ee59cd872036" providerId="ADAL" clId="{9309B313-5840-484A-921A-36E4EDD46CAE}" dt="2026-06-25T00:38:47.620" v="311" actId="20577"/>
        <pc:sldMkLst>
          <pc:docMk/>
          <pc:sldMk cId="0" sldId="260"/>
        </pc:sldMkLst>
        <pc:spChg chg="mod">
          <ac:chgData name="Sebastián Eduardo Silva Salinas" userId="205b366d-c7ec-465b-93be-ee59cd872036" providerId="ADAL" clId="{9309B313-5840-484A-921A-36E4EDD46CAE}" dt="2026-06-25T00:38:47.620" v="311" actId="20577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Sebastián Eduardo Silva Salinas" userId="205b366d-c7ec-465b-93be-ee59cd872036" providerId="ADAL" clId="{9309B313-5840-484A-921A-36E4EDD46CAE}" dt="2026-06-25T00:28:35.858" v="244" actId="20577"/>
        <pc:sldMkLst>
          <pc:docMk/>
          <pc:sldMk cId="0" sldId="262"/>
        </pc:sldMkLst>
        <pc:spChg chg="mod">
          <ac:chgData name="Sebastián Eduardo Silva Salinas" userId="205b366d-c7ec-465b-93be-ee59cd872036" providerId="ADAL" clId="{9309B313-5840-484A-921A-36E4EDD46CAE}" dt="2026-06-25T00:28:10.684" v="234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5T00:28:35.858" v="244" actId="20577"/>
          <ac:spMkLst>
            <pc:docMk/>
            <pc:sldMk cId="0" sldId="262"/>
            <ac:spMk id="6" creationId="{00000000-0000-0000-0000-000000000000}"/>
          </ac:spMkLst>
        </pc:spChg>
      </pc:sldChg>
      <pc:sldChg chg="addSp delSp modSp mod">
        <pc:chgData name="Sebastián Eduardo Silva Salinas" userId="205b366d-c7ec-465b-93be-ee59cd872036" providerId="ADAL" clId="{9309B313-5840-484A-921A-36E4EDD46CAE}" dt="2026-06-24T23:31:23.448" v="128"/>
        <pc:sldMkLst>
          <pc:docMk/>
          <pc:sldMk cId="0" sldId="265"/>
        </pc:sldMkLst>
        <pc:spChg chg="mod">
          <ac:chgData name="Sebastián Eduardo Silva Salinas" userId="205b366d-c7ec-465b-93be-ee59cd872036" providerId="ADAL" clId="{9309B313-5840-484A-921A-36E4EDD46CAE}" dt="2026-06-19T02:20:47.611" v="86" actId="20577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Sebastián Eduardo Silva Salinas" userId="205b366d-c7ec-465b-93be-ee59cd872036" providerId="ADAL" clId="{9309B313-5840-484A-921A-36E4EDD46CAE}" dt="2026-06-25T00:58:37.330" v="328" actId="20577"/>
        <pc:sldMkLst>
          <pc:docMk/>
          <pc:sldMk cId="0" sldId="266"/>
        </pc:sldMkLst>
        <pc:spChg chg="mod">
          <ac:chgData name="Sebastián Eduardo Silva Salinas" userId="205b366d-c7ec-465b-93be-ee59cd872036" providerId="ADAL" clId="{9309B313-5840-484A-921A-36E4EDD46CAE}" dt="2026-06-25T00:58:37.330" v="328" actId="20577"/>
          <ac:spMkLst>
            <pc:docMk/>
            <pc:sldMk cId="0" sldId="266"/>
            <ac:spMk id="8" creationId="{00000000-0000-0000-0000-000000000000}"/>
          </ac:spMkLst>
        </pc:spChg>
      </pc:sldChg>
      <pc:sldChg chg="addSp modSp mod">
        <pc:chgData name="Sebastián Eduardo Silva Salinas" userId="205b366d-c7ec-465b-93be-ee59cd872036" providerId="ADAL" clId="{9309B313-5840-484A-921A-36E4EDD46CAE}" dt="2026-06-25T00:56:35.174" v="319" actId="207"/>
        <pc:sldMkLst>
          <pc:docMk/>
          <pc:sldMk cId="0" sldId="267"/>
        </pc:sldMkLst>
        <pc:spChg chg="add mod">
          <ac:chgData name="Sebastián Eduardo Silva Salinas" userId="205b366d-c7ec-465b-93be-ee59cd872036" providerId="ADAL" clId="{9309B313-5840-484A-921A-36E4EDD46CAE}" dt="2026-06-24T23:36:39.605" v="168" actId="1076"/>
          <ac:spMkLst>
            <pc:docMk/>
            <pc:sldMk cId="0" sldId="267"/>
            <ac:spMk id="2" creationId="{B7BFC49F-C026-8BE6-B8BB-D158BAFA3BE0}"/>
          </ac:spMkLst>
        </pc:spChg>
        <pc:spChg chg="add mod">
          <ac:chgData name="Sebastián Eduardo Silva Salinas" userId="205b366d-c7ec-465b-93be-ee59cd872036" providerId="ADAL" clId="{9309B313-5840-484A-921A-36E4EDD46CAE}" dt="2026-06-24T23:36:28.384" v="167" actId="20577"/>
          <ac:spMkLst>
            <pc:docMk/>
            <pc:sldMk cId="0" sldId="267"/>
            <ac:spMk id="4" creationId="{DF962DE8-D22C-B7ED-8DC7-E554733DDA2A}"/>
          </ac:spMkLst>
        </pc:spChg>
        <pc:spChg chg="mod">
          <ac:chgData name="Sebastián Eduardo Silva Salinas" userId="205b366d-c7ec-465b-93be-ee59cd872036" providerId="ADAL" clId="{9309B313-5840-484A-921A-36E4EDD46CAE}" dt="2026-06-24T23:36:53.660" v="171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6:55.781" v="172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6:50.655" v="170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7:03.941" v="17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6:03.058" v="158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6:00.719" v="157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8:36.024" v="207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8:45.675" v="209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8:50.461" v="210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24T23:35:58.571" v="156" actId="1076"/>
          <ac:spMkLst>
            <pc:docMk/>
            <pc:sldMk cId="0" sldId="267"/>
            <ac:spMk id="14" creationId="{00000000-0000-0000-0000-000000000000}"/>
          </ac:spMkLst>
        </pc:spChg>
        <pc:spChg chg="add mod">
          <ac:chgData name="Sebastián Eduardo Silva Salinas" userId="205b366d-c7ec-465b-93be-ee59cd872036" providerId="ADAL" clId="{9309B313-5840-484A-921A-36E4EDD46CAE}" dt="2026-06-24T23:38:43.177" v="208" actId="1076"/>
          <ac:spMkLst>
            <pc:docMk/>
            <pc:sldMk cId="0" sldId="267"/>
            <ac:spMk id="18" creationId="{381C2611-AA9F-EE78-E80C-116A17EB1729}"/>
          </ac:spMkLst>
        </pc:spChg>
        <pc:spChg chg="add mod">
          <ac:chgData name="Sebastián Eduardo Silva Salinas" userId="205b366d-c7ec-465b-93be-ee59cd872036" providerId="ADAL" clId="{9309B313-5840-484A-921A-36E4EDD46CAE}" dt="2026-06-25T00:55:47.319" v="315" actId="14100"/>
          <ac:spMkLst>
            <pc:docMk/>
            <pc:sldMk cId="0" sldId="267"/>
            <ac:spMk id="19" creationId="{0024A98D-8247-06DD-955A-8A92AA012CCB}"/>
          </ac:spMkLst>
        </pc:spChg>
        <pc:spChg chg="add mod">
          <ac:chgData name="Sebastián Eduardo Silva Salinas" userId="205b366d-c7ec-465b-93be-ee59cd872036" providerId="ADAL" clId="{9309B313-5840-484A-921A-36E4EDD46CAE}" dt="2026-06-25T00:56:16.446" v="317" actId="207"/>
          <ac:spMkLst>
            <pc:docMk/>
            <pc:sldMk cId="0" sldId="267"/>
            <ac:spMk id="20" creationId="{F92C864C-0A22-EE0D-AC22-400602ADCADC}"/>
          </ac:spMkLst>
        </pc:spChg>
        <pc:spChg chg="add mod">
          <ac:chgData name="Sebastián Eduardo Silva Salinas" userId="205b366d-c7ec-465b-93be-ee59cd872036" providerId="ADAL" clId="{9309B313-5840-484A-921A-36E4EDD46CAE}" dt="2026-06-25T00:56:35.174" v="319" actId="207"/>
          <ac:spMkLst>
            <pc:docMk/>
            <pc:sldMk cId="0" sldId="267"/>
            <ac:spMk id="21" creationId="{F2C19564-144C-3419-1145-83FD7DB1B9C9}"/>
          </ac:spMkLst>
        </pc:spChg>
      </pc:sldChg>
      <pc:sldChg chg="ord">
        <pc:chgData name="Sebastián Eduardo Silva Salinas" userId="205b366d-c7ec-465b-93be-ee59cd872036" providerId="ADAL" clId="{9309B313-5840-484A-921A-36E4EDD46CAE}" dt="2026-06-19T00:54:50.470" v="3"/>
        <pc:sldMkLst>
          <pc:docMk/>
          <pc:sldMk cId="0" sldId="268"/>
        </pc:sldMkLst>
      </pc:sldChg>
      <pc:sldChg chg="modSp mod">
        <pc:chgData name="Sebastián Eduardo Silva Salinas" userId="205b366d-c7ec-465b-93be-ee59cd872036" providerId="ADAL" clId="{9309B313-5840-484A-921A-36E4EDD46CAE}" dt="2026-06-19T03:45:36.513" v="107" actId="1076"/>
        <pc:sldMkLst>
          <pc:docMk/>
          <pc:sldMk cId="0" sldId="269"/>
        </pc:sldMkLst>
        <pc:spChg chg="mod">
          <ac:chgData name="Sebastián Eduardo Silva Salinas" userId="205b366d-c7ec-465b-93be-ee59cd872036" providerId="ADAL" clId="{9309B313-5840-484A-921A-36E4EDD46CAE}" dt="2026-06-19T03:45:36.513" v="107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Sebastián Eduardo Silva Salinas" userId="205b366d-c7ec-465b-93be-ee59cd872036" providerId="ADAL" clId="{9309B313-5840-484A-921A-36E4EDD46CAE}" dt="2026-06-19T03:45:18.559" v="106" actId="6549"/>
          <ac:spMkLst>
            <pc:docMk/>
            <pc:sldMk cId="0" sldId="269"/>
            <ac:spMk id="7" creationId="{B7509429-F0A4-9980-E0A7-BEADEFF0E77C}"/>
          </ac:spMkLst>
        </pc:spChg>
      </pc:sldChg>
      <pc:sldChg chg="addSp delSp modSp mod delAnim">
        <pc:chgData name="Sebastián Eduardo Silva Salinas" userId="205b366d-c7ec-465b-93be-ee59cd872036" providerId="ADAL" clId="{9309B313-5840-484A-921A-36E4EDD46CAE}" dt="2026-06-27T03:13:59.735" v="426" actId="1076"/>
        <pc:sldMkLst>
          <pc:docMk/>
          <pc:sldMk cId="1430987189" sldId="272"/>
        </pc:sldMkLst>
        <pc:spChg chg="add mod">
          <ac:chgData name="Sebastián Eduardo Silva Salinas" userId="205b366d-c7ec-465b-93be-ee59cd872036" providerId="ADAL" clId="{9309B313-5840-484A-921A-36E4EDD46CAE}" dt="2026-06-27T03:13:59.735" v="426" actId="1076"/>
          <ac:spMkLst>
            <pc:docMk/>
            <pc:sldMk cId="1430987189" sldId="272"/>
            <ac:spMk id="2" creationId="{7E411BF2-090D-040D-7EFF-75D55AAD1780}"/>
          </ac:spMkLst>
        </pc:spChg>
        <pc:picChg chg="del">
          <ac:chgData name="Sebastián Eduardo Silva Salinas" userId="205b366d-c7ec-465b-93be-ee59cd872036" providerId="ADAL" clId="{9309B313-5840-484A-921A-36E4EDD46CAE}" dt="2026-06-27T02:54:56.806" v="401" actId="478"/>
          <ac:picMkLst>
            <pc:docMk/>
            <pc:sldMk cId="1430987189" sldId="272"/>
            <ac:picMk id="3" creationId="{C5B28470-71A5-2CFA-FA35-C9DFE10BEA00}"/>
          </ac:picMkLst>
        </pc:picChg>
      </pc:sldChg>
      <pc:sldChg chg="modSp mod ord">
        <pc:chgData name="Sebastián Eduardo Silva Salinas" userId="205b366d-c7ec-465b-93be-ee59cd872036" providerId="ADAL" clId="{9309B313-5840-484A-921A-36E4EDD46CAE}" dt="2026-06-27T02:43:00.893" v="400"/>
        <pc:sldMkLst>
          <pc:docMk/>
          <pc:sldMk cId="2585562417" sldId="273"/>
        </pc:sldMkLst>
        <pc:spChg chg="mod">
          <ac:chgData name="Sebastián Eduardo Silva Salinas" userId="205b366d-c7ec-465b-93be-ee59cd872036" providerId="ADAL" clId="{9309B313-5840-484A-921A-36E4EDD46CAE}" dt="2026-06-25T01:03:13.351" v="344" actId="20577"/>
          <ac:spMkLst>
            <pc:docMk/>
            <pc:sldMk cId="2585562417" sldId="273"/>
            <ac:spMk id="42" creationId="{02159449-FB98-A8D6-3648-B515837C1CCA}"/>
          </ac:spMkLst>
        </pc:spChg>
        <pc:spChg chg="mod">
          <ac:chgData name="Sebastián Eduardo Silva Salinas" userId="205b366d-c7ec-465b-93be-ee59cd872036" providerId="ADAL" clId="{9309B313-5840-484A-921A-36E4EDD46CAE}" dt="2026-06-25T01:06:02.902" v="376" actId="20577"/>
          <ac:spMkLst>
            <pc:docMk/>
            <pc:sldMk cId="2585562417" sldId="273"/>
            <ac:spMk id="43" creationId="{D3077D5A-FF08-1983-9972-853981E22D7E}"/>
          </ac:spMkLst>
        </pc:spChg>
        <pc:spChg chg="mod">
          <ac:chgData name="Sebastián Eduardo Silva Salinas" userId="205b366d-c7ec-465b-93be-ee59cd872036" providerId="ADAL" clId="{9309B313-5840-484A-921A-36E4EDD46CAE}" dt="2026-06-25T01:06:22.072" v="398" actId="20577"/>
          <ac:spMkLst>
            <pc:docMk/>
            <pc:sldMk cId="2585562417" sldId="273"/>
            <ac:spMk id="44" creationId="{230FD8C4-FADC-DEEF-6214-32B08F4E16D9}"/>
          </ac:spMkLst>
        </pc:spChg>
      </pc:sldChg>
      <pc:sldChg chg="addSp delSp modSp add mod">
        <pc:chgData name="Sebastián Eduardo Silva Salinas" userId="205b366d-c7ec-465b-93be-ee59cd872036" providerId="ADAL" clId="{9309B313-5840-484A-921A-36E4EDD46CAE}" dt="2026-06-19T01:19:08.668" v="40" actId="1076"/>
        <pc:sldMkLst>
          <pc:docMk/>
          <pc:sldMk cId="3373981759" sldId="274"/>
        </pc:sldMkLst>
        <pc:spChg chg="mod">
          <ac:chgData name="Sebastián Eduardo Silva Salinas" userId="205b366d-c7ec-465b-93be-ee59cd872036" providerId="ADAL" clId="{9309B313-5840-484A-921A-36E4EDD46CAE}" dt="2026-06-19T01:19:08.668" v="40" actId="1076"/>
          <ac:spMkLst>
            <pc:docMk/>
            <pc:sldMk cId="3373981759" sldId="274"/>
            <ac:spMk id="5" creationId="{DF965430-916C-1987-2926-5EAF8382A14F}"/>
          </ac:spMkLst>
        </pc:spChg>
        <pc:spChg chg="add del mod">
          <ac:chgData name="Sebastián Eduardo Silva Salinas" userId="205b366d-c7ec-465b-93be-ee59cd872036" providerId="ADAL" clId="{9309B313-5840-484A-921A-36E4EDD46CAE}" dt="2026-06-19T01:18:38.972" v="36" actId="20577"/>
          <ac:spMkLst>
            <pc:docMk/>
            <pc:sldMk cId="3373981759" sldId="274"/>
            <ac:spMk id="7" creationId="{8C2029F2-47DC-FA69-93ED-9253347F8341}"/>
          </ac:spMkLst>
        </pc:spChg>
      </pc:sldChg>
      <pc:sldChg chg="addSp delSp modSp add mod">
        <pc:chgData name="Sebastián Eduardo Silva Salinas" userId="205b366d-c7ec-465b-93be-ee59cd872036" providerId="ADAL" clId="{9309B313-5840-484A-921A-36E4EDD46CAE}" dt="2026-06-19T02:17:41.786" v="60" actId="1076"/>
        <pc:sldMkLst>
          <pc:docMk/>
          <pc:sldMk cId="3461088007" sldId="275"/>
        </pc:sldMkLst>
        <pc:spChg chg="mod">
          <ac:chgData name="Sebastián Eduardo Silva Salinas" userId="205b366d-c7ec-465b-93be-ee59cd872036" providerId="ADAL" clId="{9309B313-5840-484A-921A-36E4EDD46CAE}" dt="2026-06-19T01:21:48.300" v="53" actId="1076"/>
          <ac:spMkLst>
            <pc:docMk/>
            <pc:sldMk cId="3461088007" sldId="275"/>
            <ac:spMk id="10" creationId="{418EC7F5-F1BF-ED02-21DC-7F700E149B99}"/>
          </ac:spMkLst>
        </pc:spChg>
        <pc:picChg chg="add mod">
          <ac:chgData name="Sebastián Eduardo Silva Salinas" userId="205b366d-c7ec-465b-93be-ee59cd872036" providerId="ADAL" clId="{9309B313-5840-484A-921A-36E4EDD46CAE}" dt="2026-06-19T02:17:41.786" v="60" actId="1076"/>
          <ac:picMkLst>
            <pc:docMk/>
            <pc:sldMk cId="3461088007" sldId="275"/>
            <ac:picMk id="4" creationId="{35B71036-B30F-155C-0A3C-C5FA2712A432}"/>
          </ac:picMkLst>
        </pc:picChg>
      </pc:sldChg>
      <pc:sldChg chg="addSp modSp add mod">
        <pc:chgData name="Sebastián Eduardo Silva Salinas" userId="205b366d-c7ec-465b-93be-ee59cd872036" providerId="ADAL" clId="{9309B313-5840-484A-921A-36E4EDD46CAE}" dt="2026-06-24T23:31:17.764" v="127"/>
        <pc:sldMkLst>
          <pc:docMk/>
          <pc:sldMk cId="415988535" sldId="277"/>
        </pc:sldMkLst>
        <pc:spChg chg="mod">
          <ac:chgData name="Sebastián Eduardo Silva Salinas" userId="205b366d-c7ec-465b-93be-ee59cd872036" providerId="ADAL" clId="{9309B313-5840-484A-921A-36E4EDD46CAE}" dt="2026-06-19T02:21:27.599" v="93" actId="20577"/>
          <ac:spMkLst>
            <pc:docMk/>
            <pc:sldMk cId="415988535" sldId="277"/>
            <ac:spMk id="6" creationId="{9B28A5AB-034B-B174-6F42-E856770EDE6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62A74-459E-4944-AC07-83C8972411E3}" type="datetimeFigureOut">
              <a:rPr lang="es-CL" smtClean="0"/>
              <a:t>26-06-2026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E9021-EAB9-4DB0-AF56-020B11071F65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4095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E9021-EAB9-4DB0-AF56-020B11071F65}" type="slidenum">
              <a:rPr lang="es-CL" smtClean="0"/>
              <a:t>13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35738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4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4.svg"/><Relationship Id="rId9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file/d/1njcN2OqkTxVA6J1bGoSu5MbG6kB3xDTw/view?usp=sharing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2C189047-1209-22E1-CA74-B15219D7DCB1}"/>
              </a:ext>
            </a:extLst>
          </p:cNvPr>
          <p:cNvSpPr/>
          <p:nvPr/>
        </p:nvSpPr>
        <p:spPr>
          <a:xfrm rot="-10342683" flipH="1">
            <a:off x="-2903293" y="608955"/>
            <a:ext cx="7570316" cy="12015307"/>
          </a:xfrm>
          <a:custGeom>
            <a:avLst/>
            <a:gdLst/>
            <a:ahLst/>
            <a:cxnLst/>
            <a:rect l="l" t="t" r="r" b="b"/>
            <a:pathLst>
              <a:path w="7570316" h="12015307">
                <a:moveTo>
                  <a:pt x="7570316" y="0"/>
                </a:moveTo>
                <a:lnTo>
                  <a:pt x="0" y="0"/>
                </a:lnTo>
                <a:lnTo>
                  <a:pt x="0" y="12015306"/>
                </a:lnTo>
                <a:lnTo>
                  <a:pt x="7570316" y="12015306"/>
                </a:lnTo>
                <a:lnTo>
                  <a:pt x="7570316" y="0"/>
                </a:lnTo>
                <a:close/>
              </a:path>
            </a:pathLst>
          </a:custGeom>
          <a:blipFill>
            <a:blip r:embed="rId2"/>
            <a:stretch>
              <a:fillRect l="-70128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3" name="Freeform 3"/>
          <p:cNvSpPr/>
          <p:nvPr/>
        </p:nvSpPr>
        <p:spPr>
          <a:xfrm rot="706383">
            <a:off x="-2055239" y="-2470506"/>
            <a:ext cx="13659052" cy="13683931"/>
          </a:xfrm>
          <a:custGeom>
            <a:avLst/>
            <a:gdLst/>
            <a:ahLst/>
            <a:cxnLst/>
            <a:rect l="l" t="t" r="r" b="b"/>
            <a:pathLst>
              <a:path w="13659052" h="13683931">
                <a:moveTo>
                  <a:pt x="0" y="0"/>
                </a:moveTo>
                <a:lnTo>
                  <a:pt x="13659052" y="0"/>
                </a:lnTo>
                <a:lnTo>
                  <a:pt x="13659052" y="13683931"/>
                </a:lnTo>
                <a:lnTo>
                  <a:pt x="0" y="1368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4" name="Freeform 4"/>
          <p:cNvSpPr/>
          <p:nvPr/>
        </p:nvSpPr>
        <p:spPr>
          <a:xfrm rot="-10342683" flipV="1">
            <a:off x="9311185" y="-3172959"/>
            <a:ext cx="13239789" cy="12351619"/>
          </a:xfrm>
          <a:custGeom>
            <a:avLst/>
            <a:gdLst/>
            <a:ahLst/>
            <a:cxnLst/>
            <a:rect l="l" t="t" r="r" b="b"/>
            <a:pathLst>
              <a:path w="13239789" h="12351619">
                <a:moveTo>
                  <a:pt x="0" y="12351619"/>
                </a:moveTo>
                <a:lnTo>
                  <a:pt x="13239788" y="12351619"/>
                </a:lnTo>
                <a:lnTo>
                  <a:pt x="13239788" y="0"/>
                </a:lnTo>
                <a:lnTo>
                  <a:pt x="0" y="0"/>
                </a:lnTo>
                <a:lnTo>
                  <a:pt x="0" y="1235161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5" name="Freeform 5"/>
          <p:cNvSpPr/>
          <p:nvPr/>
        </p:nvSpPr>
        <p:spPr>
          <a:xfrm>
            <a:off x="5257800" y="-730187"/>
            <a:ext cx="6477000" cy="6539102"/>
          </a:xfrm>
          <a:custGeom>
            <a:avLst/>
            <a:gdLst/>
            <a:ahLst/>
            <a:cxnLst/>
            <a:rect l="l" t="t" r="r" b="b"/>
            <a:pathLst>
              <a:path w="3208269" h="3208269">
                <a:moveTo>
                  <a:pt x="0" y="0"/>
                </a:moveTo>
                <a:lnTo>
                  <a:pt x="3208269" y="0"/>
                </a:lnTo>
                <a:lnTo>
                  <a:pt x="3208269" y="3208270"/>
                </a:lnTo>
                <a:lnTo>
                  <a:pt x="0" y="32082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TextBox 6"/>
          <p:cNvSpPr txBox="1"/>
          <p:nvPr/>
        </p:nvSpPr>
        <p:spPr>
          <a:xfrm>
            <a:off x="14505164" y="8858880"/>
            <a:ext cx="2851832" cy="42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97994" y="4652071"/>
            <a:ext cx="13639800" cy="2604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00"/>
              </a:lnSpc>
            </a:pPr>
            <a:r>
              <a:rPr lang="en-US" sz="96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PROYECTO CAPSTONE</a:t>
            </a:r>
          </a:p>
        </p:txBody>
      </p:sp>
      <p:sp>
        <p:nvSpPr>
          <p:cNvPr id="9" name="Freeform 9"/>
          <p:cNvSpPr/>
          <p:nvPr/>
        </p:nvSpPr>
        <p:spPr>
          <a:xfrm>
            <a:off x="1752600" y="8240731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0342683" flipV="1">
            <a:off x="9935127" y="-3329427"/>
            <a:ext cx="13239789" cy="12351619"/>
          </a:xfrm>
          <a:custGeom>
            <a:avLst/>
            <a:gdLst/>
            <a:ahLst/>
            <a:cxnLst/>
            <a:rect l="l" t="t" r="r" b="b"/>
            <a:pathLst>
              <a:path w="13239789" h="12351619">
                <a:moveTo>
                  <a:pt x="0" y="12351620"/>
                </a:moveTo>
                <a:lnTo>
                  <a:pt x="13239788" y="12351620"/>
                </a:lnTo>
                <a:lnTo>
                  <a:pt x="13239788" y="0"/>
                </a:lnTo>
                <a:lnTo>
                  <a:pt x="0" y="0"/>
                </a:lnTo>
                <a:lnTo>
                  <a:pt x="0" y="1235162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4" name="Freeform 4"/>
          <p:cNvSpPr/>
          <p:nvPr/>
        </p:nvSpPr>
        <p:spPr>
          <a:xfrm rot="706383">
            <a:off x="-3380903" y="-212480"/>
            <a:ext cx="13659052" cy="13683931"/>
          </a:xfrm>
          <a:custGeom>
            <a:avLst/>
            <a:gdLst/>
            <a:ahLst/>
            <a:cxnLst/>
            <a:rect l="l" t="t" r="r" b="b"/>
            <a:pathLst>
              <a:path w="13659052" h="13683931">
                <a:moveTo>
                  <a:pt x="0" y="0"/>
                </a:moveTo>
                <a:lnTo>
                  <a:pt x="13659051" y="0"/>
                </a:lnTo>
                <a:lnTo>
                  <a:pt x="13659051" y="13683931"/>
                </a:lnTo>
                <a:lnTo>
                  <a:pt x="0" y="1368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Freeform 6"/>
          <p:cNvSpPr/>
          <p:nvPr/>
        </p:nvSpPr>
        <p:spPr>
          <a:xfrm>
            <a:off x="2063991" y="3208269"/>
            <a:ext cx="2170446" cy="2441197"/>
          </a:xfrm>
          <a:custGeom>
            <a:avLst/>
            <a:gdLst/>
            <a:ahLst/>
            <a:cxnLst/>
            <a:rect l="l" t="t" r="r" b="b"/>
            <a:pathLst>
              <a:path w="2170446" h="2441197">
                <a:moveTo>
                  <a:pt x="0" y="0"/>
                </a:moveTo>
                <a:lnTo>
                  <a:pt x="2170447" y="0"/>
                </a:lnTo>
                <a:lnTo>
                  <a:pt x="2170447" y="2441198"/>
                </a:lnTo>
                <a:lnTo>
                  <a:pt x="0" y="2441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Freeform 7"/>
          <p:cNvSpPr/>
          <p:nvPr/>
        </p:nvSpPr>
        <p:spPr>
          <a:xfrm>
            <a:off x="6590443" y="3208269"/>
            <a:ext cx="2170446" cy="2441197"/>
          </a:xfrm>
          <a:custGeom>
            <a:avLst/>
            <a:gdLst/>
            <a:ahLst/>
            <a:cxnLst/>
            <a:rect l="l" t="t" r="r" b="b"/>
            <a:pathLst>
              <a:path w="2170446" h="2441197">
                <a:moveTo>
                  <a:pt x="0" y="0"/>
                </a:moveTo>
                <a:lnTo>
                  <a:pt x="2170446" y="0"/>
                </a:lnTo>
                <a:lnTo>
                  <a:pt x="2170446" y="2441198"/>
                </a:lnTo>
                <a:lnTo>
                  <a:pt x="0" y="2441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8" name="Freeform 8"/>
          <p:cNvSpPr/>
          <p:nvPr/>
        </p:nvSpPr>
        <p:spPr>
          <a:xfrm>
            <a:off x="11530485" y="3208269"/>
            <a:ext cx="2170446" cy="2441197"/>
          </a:xfrm>
          <a:custGeom>
            <a:avLst/>
            <a:gdLst/>
            <a:ahLst/>
            <a:cxnLst/>
            <a:rect l="l" t="t" r="r" b="b"/>
            <a:pathLst>
              <a:path w="2170446" h="2441197">
                <a:moveTo>
                  <a:pt x="0" y="0"/>
                </a:moveTo>
                <a:lnTo>
                  <a:pt x="2170446" y="0"/>
                </a:lnTo>
                <a:lnTo>
                  <a:pt x="2170446" y="2441198"/>
                </a:lnTo>
                <a:lnTo>
                  <a:pt x="0" y="24411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9" name="Freeform 9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TextBox 10"/>
          <p:cNvSpPr txBox="1"/>
          <p:nvPr/>
        </p:nvSpPr>
        <p:spPr>
          <a:xfrm>
            <a:off x="1028700" y="1085850"/>
            <a:ext cx="6092805" cy="115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EQUIPO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96147" y="5857452"/>
            <a:ext cx="4239121" cy="207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468" b="1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Sebastián Silva</a:t>
            </a:r>
          </a:p>
          <a:p>
            <a:pPr algn="ctr">
              <a:lnSpc>
                <a:spcPct val="200000"/>
              </a:lnSpc>
            </a:pPr>
            <a:r>
              <a:rPr lang="es-CL" sz="2400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</a:rPr>
              <a:t>Project Manager</a:t>
            </a:r>
            <a:endParaRPr lang="en-US" sz="2400" dirty="0">
              <a:solidFill>
                <a:srgbClr val="2C9FC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ct val="200000"/>
              </a:lnSpc>
            </a:pPr>
            <a:r>
              <a:rPr lang="en-US" sz="2000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see.silva@duocuc.cl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5851" y="5888870"/>
            <a:ext cx="3960875" cy="207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sz="4470" b="1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Javier Astorga</a:t>
            </a:r>
          </a:p>
          <a:p>
            <a:pPr algn="ctr">
              <a:lnSpc>
                <a:spcPct val="200000"/>
              </a:lnSpc>
            </a:pPr>
            <a:r>
              <a:rPr lang="es-CL" sz="2400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</a:rPr>
              <a:t>Desarrollador </a:t>
            </a:r>
            <a:r>
              <a:rPr lang="es-CL" sz="2400" dirty="0" err="1">
                <a:solidFill>
                  <a:srgbClr val="2C9FC4"/>
                </a:solidFill>
                <a:latin typeface="Open Sans Bold"/>
                <a:ea typeface="Open Sans Bold"/>
                <a:cs typeface="Open Sans Bold"/>
              </a:rPr>
              <a:t>Backend</a:t>
            </a:r>
            <a:endParaRPr lang="en-US" sz="2400" dirty="0">
              <a:solidFill>
                <a:srgbClr val="2C9FC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ct val="200000"/>
              </a:lnSpc>
            </a:pPr>
            <a:r>
              <a:rPr lang="en-US" sz="2000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ja.astorgar@duocuc.cl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07150" y="5889427"/>
            <a:ext cx="3765174" cy="2074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sz="4470" b="1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Ignacio Díaz</a:t>
            </a:r>
          </a:p>
          <a:p>
            <a:pPr algn="ctr">
              <a:lnSpc>
                <a:spcPct val="200000"/>
              </a:lnSpc>
            </a:pPr>
            <a:r>
              <a:rPr lang="es-CL" sz="2400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</a:rPr>
              <a:t>Desarrollador </a:t>
            </a:r>
            <a:r>
              <a:rPr lang="es-CL" sz="2400" dirty="0" err="1">
                <a:solidFill>
                  <a:srgbClr val="2C9FC4"/>
                </a:solidFill>
                <a:latin typeface="Open Sans Bold"/>
                <a:ea typeface="Open Sans Bold"/>
                <a:cs typeface="Open Sans Bold"/>
              </a:rPr>
              <a:t>Frontend</a:t>
            </a:r>
            <a:endParaRPr lang="en-US" sz="2400" dirty="0">
              <a:solidFill>
                <a:srgbClr val="2C9FC4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ct val="200000"/>
              </a:lnSpc>
            </a:pPr>
            <a:r>
              <a:rPr lang="en-US" sz="2000" dirty="0">
                <a:solidFill>
                  <a:srgbClr val="2C9FC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ign.diazv@duocuc.cl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3" name="Freeform 3"/>
          <p:cNvSpPr/>
          <p:nvPr/>
        </p:nvSpPr>
        <p:spPr>
          <a:xfrm rot="706383">
            <a:off x="-3680311" y="-34364"/>
            <a:ext cx="13659052" cy="13683931"/>
          </a:xfrm>
          <a:custGeom>
            <a:avLst/>
            <a:gdLst/>
            <a:ahLst/>
            <a:cxnLst/>
            <a:rect l="l" t="t" r="r" b="b"/>
            <a:pathLst>
              <a:path w="13659052" h="13683931">
                <a:moveTo>
                  <a:pt x="0" y="0"/>
                </a:moveTo>
                <a:lnTo>
                  <a:pt x="13659051" y="0"/>
                </a:lnTo>
                <a:lnTo>
                  <a:pt x="13659051" y="13683931"/>
                </a:lnTo>
                <a:lnTo>
                  <a:pt x="0" y="1368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4" name="Freeform 4"/>
          <p:cNvSpPr/>
          <p:nvPr/>
        </p:nvSpPr>
        <p:spPr>
          <a:xfrm rot="-10342683" flipV="1">
            <a:off x="9915890" y="-3329428"/>
            <a:ext cx="13239789" cy="12351619"/>
          </a:xfrm>
          <a:custGeom>
            <a:avLst/>
            <a:gdLst/>
            <a:ahLst/>
            <a:cxnLst/>
            <a:rect l="l" t="t" r="r" b="b"/>
            <a:pathLst>
              <a:path w="13239789" h="12351619">
                <a:moveTo>
                  <a:pt x="0" y="12351620"/>
                </a:moveTo>
                <a:lnTo>
                  <a:pt x="13239788" y="12351620"/>
                </a:lnTo>
                <a:lnTo>
                  <a:pt x="13239788" y="0"/>
                </a:lnTo>
                <a:lnTo>
                  <a:pt x="0" y="0"/>
                </a:lnTo>
                <a:lnTo>
                  <a:pt x="0" y="1235162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TextBox 7"/>
          <p:cNvSpPr txBox="1"/>
          <p:nvPr/>
        </p:nvSpPr>
        <p:spPr>
          <a:xfrm>
            <a:off x="1006215" y="548233"/>
            <a:ext cx="12001500" cy="3563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CONTEXTO</a:t>
            </a:r>
          </a:p>
          <a:p>
            <a:pPr>
              <a:lnSpc>
                <a:spcPct val="150000"/>
              </a:lnSpc>
            </a:pPr>
            <a:r>
              <a:rPr lang="es-CL" sz="2399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Sector: Industria de la estética, barberías y salones de belleza.</a:t>
            </a:r>
          </a:p>
          <a:p>
            <a:pPr algn="l">
              <a:lnSpc>
                <a:spcPts val="11200"/>
              </a:lnSpc>
            </a:pPr>
            <a:endParaRPr lang="en-US" sz="2400" dirty="0">
              <a:solidFill>
                <a:srgbClr val="2C9FC4"/>
              </a:solidFill>
              <a:latin typeface="Poppins" panose="00000500000000000000" pitchFamily="2" charset="0"/>
              <a:ea typeface="Telegraf"/>
              <a:cs typeface="Poppins" panose="00000500000000000000" pitchFamily="2" charset="0"/>
              <a:sym typeface="Telegraf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6215" y="3377473"/>
            <a:ext cx="6168344" cy="5645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s-CL" sz="2399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Problemática actual: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Dependencia de procesos manuales en la gestión de reservas de atención en pequeños negocios. Lo que produce baja capacidad de toma de decisiones de negocio, escaza fidelización de clientes y conflictos con agendas u horarios. 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s-CL" sz="22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59"/>
              </a:lnSpc>
            </a:pPr>
            <a:r>
              <a:rPr lang="es-CL" sz="2399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Necesidad: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CL" sz="22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Los profesionales demandan mayor control y digitalización de sus agendas de reservas.</a:t>
            </a:r>
          </a:p>
          <a:p>
            <a:pPr algn="just">
              <a:lnSpc>
                <a:spcPts val="3359"/>
              </a:lnSpc>
            </a:pPr>
            <a:endParaRPr lang="en-US" sz="2399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Freeform 10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4EFA7FB-D78F-D8DE-3728-154AE7B769DC}"/>
              </a:ext>
            </a:extLst>
          </p:cNvPr>
          <p:cNvSpPr txBox="1"/>
          <p:nvPr/>
        </p:nvSpPr>
        <p:spPr>
          <a:xfrm>
            <a:off x="8180774" y="3383094"/>
            <a:ext cx="6481372" cy="5209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s-CL" sz="2399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Solución</a:t>
            </a:r>
            <a:r>
              <a:rPr lang="es-CL" sz="2399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>
              <a:lnSpc>
                <a:spcPts val="3359"/>
              </a:lnSpc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Plataforma Digital (SaaS) Web App orientada a la transformación de la gestión de servicios. Que incluye: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endParaRPr lang="es-MX" sz="2399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Módulo Cliente: Agendamiento intuitivo y recordatorios.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Módulo Profesional: Gestión de turnos y control de agenda </a:t>
            </a:r>
            <a:r>
              <a:rPr lang="es-MX" sz="2200" dirty="0" err="1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porprofesional</a:t>
            </a: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Módulo BI: Dashboard de análisis de métricas clave (horas punta, retención de clientes).</a:t>
            </a:r>
            <a:endParaRPr lang="es-CL" sz="22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1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Freeform 6"/>
          <p:cNvSpPr/>
          <p:nvPr/>
        </p:nvSpPr>
        <p:spPr>
          <a:xfrm rot="-10342683" flipH="1">
            <a:off x="-2332813" y="448970"/>
            <a:ext cx="7570316" cy="12015307"/>
          </a:xfrm>
          <a:custGeom>
            <a:avLst/>
            <a:gdLst/>
            <a:ahLst/>
            <a:cxnLst/>
            <a:rect l="l" t="t" r="r" b="b"/>
            <a:pathLst>
              <a:path w="7570316" h="12015307">
                <a:moveTo>
                  <a:pt x="7570316" y="0"/>
                </a:moveTo>
                <a:lnTo>
                  <a:pt x="0" y="0"/>
                </a:lnTo>
                <a:lnTo>
                  <a:pt x="0" y="12015306"/>
                </a:lnTo>
                <a:lnTo>
                  <a:pt x="7570316" y="12015306"/>
                </a:lnTo>
                <a:lnTo>
                  <a:pt x="7570316" y="0"/>
                </a:lnTo>
                <a:close/>
              </a:path>
            </a:pathLst>
          </a:custGeom>
          <a:blipFill>
            <a:blip r:embed="rId3"/>
            <a:stretch>
              <a:fillRect l="-70128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TextBox 7"/>
          <p:cNvSpPr txBox="1"/>
          <p:nvPr/>
        </p:nvSpPr>
        <p:spPr>
          <a:xfrm>
            <a:off x="1143000" y="951229"/>
            <a:ext cx="11587702" cy="1040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OBJETIVO GENERAL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38500" y="4286470"/>
            <a:ext cx="11811000" cy="1714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Modernizar y automatizar la gestión de reservas, optimizando y mejorando tanto la eficiencia de los negocios como la experiencia de los clientes. Derribando una barrera para la competitividad de las PYMES del sector de estética en Chile; digitalizando la operación para convertir datos en decisiones estratégicas.</a:t>
            </a:r>
            <a:endParaRPr lang="es-CL" sz="22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Freeform 10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B7CBC-A824-7CB1-D97E-71A6BAB7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B4B374-F835-BDAA-C87C-EBEA0D8CC7FE}"/>
              </a:ext>
            </a:extLst>
          </p:cNvPr>
          <p:cNvSpPr/>
          <p:nvPr/>
        </p:nvSpPr>
        <p:spPr>
          <a:xfrm>
            <a:off x="221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2667046-8D5C-79EA-13BB-95D0689A39A1}"/>
              </a:ext>
            </a:extLst>
          </p:cNvPr>
          <p:cNvSpPr/>
          <p:nvPr/>
        </p:nvSpPr>
        <p:spPr>
          <a:xfrm rot="-10342683" flipH="1">
            <a:off x="-2332813" y="448970"/>
            <a:ext cx="7570316" cy="12015307"/>
          </a:xfrm>
          <a:custGeom>
            <a:avLst/>
            <a:gdLst/>
            <a:ahLst/>
            <a:cxnLst/>
            <a:rect l="l" t="t" r="r" b="b"/>
            <a:pathLst>
              <a:path w="7570316" h="12015307">
                <a:moveTo>
                  <a:pt x="7570316" y="0"/>
                </a:moveTo>
                <a:lnTo>
                  <a:pt x="0" y="0"/>
                </a:lnTo>
                <a:lnTo>
                  <a:pt x="0" y="12015306"/>
                </a:lnTo>
                <a:lnTo>
                  <a:pt x="7570316" y="12015306"/>
                </a:lnTo>
                <a:lnTo>
                  <a:pt x="7570316" y="0"/>
                </a:lnTo>
                <a:close/>
              </a:path>
            </a:pathLst>
          </a:custGeom>
          <a:blipFill>
            <a:blip r:embed="rId3"/>
            <a:stretch>
              <a:fillRect l="-70128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C2029F2-47DC-FA69-93ED-9253347F8341}"/>
              </a:ext>
            </a:extLst>
          </p:cNvPr>
          <p:cNvSpPr txBox="1"/>
          <p:nvPr/>
        </p:nvSpPr>
        <p:spPr>
          <a:xfrm>
            <a:off x="1143000" y="951229"/>
            <a:ext cx="11587702" cy="206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OBJETIVOS ESPECIFICOS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9202F2E-3548-8998-931B-AD044A4826E7}"/>
              </a:ext>
            </a:extLst>
          </p:cNvPr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8ADBBC6-35BA-8203-4C40-96278FB1B946}"/>
              </a:ext>
            </a:extLst>
          </p:cNvPr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DF965430-916C-1987-2926-5EAF8382A14F}"/>
              </a:ext>
            </a:extLst>
          </p:cNvPr>
          <p:cNvSpPr txBox="1"/>
          <p:nvPr/>
        </p:nvSpPr>
        <p:spPr>
          <a:xfrm>
            <a:off x="2651023" y="3848100"/>
            <a:ext cx="13030200" cy="21500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Implementar un sistema de reservas en tiempo real con disponibilidad dinámica.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Desarrollar un panel administrativo que centralice la gestión de usuarios y servicios.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Integrar un motor de inteligencia de negocios para la visualización de métricas críticas.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Garantizar la seguridad de la información mediante autenticación robusta.</a:t>
            </a:r>
          </a:p>
          <a:p>
            <a:pPr marL="342900" indent="-342900" algn="just">
              <a:lnSpc>
                <a:spcPts val="3359"/>
              </a:lnSpc>
              <a:buFont typeface="Arial" panose="020B0604020202020204" pitchFamily="34" charset="0"/>
              <a:buChar char="•"/>
            </a:pPr>
            <a:r>
              <a:rPr lang="es-MX" sz="22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Diseño de arquitectura modular que permita una escalabilidad rápida del sistema.</a:t>
            </a:r>
            <a:endParaRPr lang="es-CL" sz="22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73981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5" name="TextBox 5"/>
          <p:cNvSpPr txBox="1"/>
          <p:nvPr/>
        </p:nvSpPr>
        <p:spPr>
          <a:xfrm>
            <a:off x="1028700" y="1085850"/>
            <a:ext cx="14058900" cy="1040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ALCANCE DEL PROYECTO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28900" y="3042888"/>
            <a:ext cx="11849100" cy="5188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Funcionalidades principales: 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Gestión de citas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CRUD de servicios</a:t>
            </a:r>
            <a:endParaRPr lang="es-CL" sz="240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Perfiles por usuario.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noProof="0" dirty="0" err="1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 analítico.</a:t>
            </a:r>
          </a:p>
          <a:p>
            <a:pPr algn="just">
              <a:lnSpc>
                <a:spcPts val="2940"/>
              </a:lnSpc>
            </a:pPr>
            <a:endParaRPr lang="es-CL" sz="24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940"/>
              </a:lnSpc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Limitaciones: 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Sistema Web App.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Enfoque solo mercado PYME.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Rubro Estética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Empresas barberías y peluquerías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Idioma español.</a:t>
            </a:r>
          </a:p>
          <a:p>
            <a:pPr marL="1714500" lvl="3" indent="-342900" algn="just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No emite recordatorios.</a:t>
            </a:r>
          </a:p>
          <a:p>
            <a:pPr algn="just">
              <a:lnSpc>
                <a:spcPts val="2940"/>
              </a:lnSpc>
            </a:pPr>
            <a:endParaRPr lang="en-US" sz="210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8" name="Freeform 8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89573875-3080-CB28-8410-CBF362847CAB}"/>
              </a:ext>
            </a:extLst>
          </p:cNvPr>
          <p:cNvSpPr/>
          <p:nvPr/>
        </p:nvSpPr>
        <p:spPr>
          <a:xfrm rot="-10342683" flipH="1">
            <a:off x="-2284611" y="106070"/>
            <a:ext cx="7570316" cy="12015307"/>
          </a:xfrm>
          <a:custGeom>
            <a:avLst/>
            <a:gdLst/>
            <a:ahLst/>
            <a:cxnLst/>
            <a:rect l="l" t="t" r="r" b="b"/>
            <a:pathLst>
              <a:path w="7570316" h="12015307">
                <a:moveTo>
                  <a:pt x="7570316" y="0"/>
                </a:moveTo>
                <a:lnTo>
                  <a:pt x="0" y="0"/>
                </a:lnTo>
                <a:lnTo>
                  <a:pt x="0" y="12015306"/>
                </a:lnTo>
                <a:lnTo>
                  <a:pt x="7570316" y="12015306"/>
                </a:lnTo>
                <a:lnTo>
                  <a:pt x="7570316" y="0"/>
                </a:lnTo>
                <a:close/>
              </a:path>
            </a:pathLst>
          </a:custGeom>
          <a:blipFill>
            <a:blip r:embed="rId5"/>
            <a:stretch>
              <a:fillRect l="-70128"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706383">
            <a:off x="-3680311" y="-34364"/>
            <a:ext cx="13659052" cy="13683931"/>
          </a:xfrm>
          <a:custGeom>
            <a:avLst/>
            <a:gdLst/>
            <a:ahLst/>
            <a:cxnLst/>
            <a:rect l="l" t="t" r="r" b="b"/>
            <a:pathLst>
              <a:path w="13659052" h="13683931">
                <a:moveTo>
                  <a:pt x="0" y="0"/>
                </a:moveTo>
                <a:lnTo>
                  <a:pt x="13659051" y="0"/>
                </a:lnTo>
                <a:lnTo>
                  <a:pt x="13659051" y="13683931"/>
                </a:lnTo>
                <a:lnTo>
                  <a:pt x="0" y="1368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4" name="Freeform 4"/>
          <p:cNvSpPr/>
          <p:nvPr/>
        </p:nvSpPr>
        <p:spPr>
          <a:xfrm rot="-10342683" flipV="1">
            <a:off x="9978382" y="-2921598"/>
            <a:ext cx="13239789" cy="12351619"/>
          </a:xfrm>
          <a:custGeom>
            <a:avLst/>
            <a:gdLst/>
            <a:ahLst/>
            <a:cxnLst/>
            <a:rect l="l" t="t" r="r" b="b"/>
            <a:pathLst>
              <a:path w="13239789" h="12351619">
                <a:moveTo>
                  <a:pt x="0" y="12351620"/>
                </a:moveTo>
                <a:lnTo>
                  <a:pt x="13239788" y="12351620"/>
                </a:lnTo>
                <a:lnTo>
                  <a:pt x="13239788" y="0"/>
                </a:lnTo>
                <a:lnTo>
                  <a:pt x="0" y="0"/>
                </a:lnTo>
                <a:lnTo>
                  <a:pt x="0" y="1235162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TextBox 7"/>
          <p:cNvSpPr txBox="1"/>
          <p:nvPr/>
        </p:nvSpPr>
        <p:spPr>
          <a:xfrm>
            <a:off x="1128263" y="2400300"/>
            <a:ext cx="6954069" cy="3701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Enfoque Híbrido:</a:t>
            </a:r>
          </a:p>
          <a:p>
            <a:pPr algn="l">
              <a:lnSpc>
                <a:spcPts val="2940"/>
              </a:lnSpc>
            </a:pPr>
            <a:endParaRPr lang="es-CL" sz="24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s-CL" sz="22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Cascada (Waterfall): Utilizado para el control de requerimientos establecidos y evitar incertidumbre.</a:t>
            </a:r>
          </a:p>
          <a:p>
            <a:pPr algn="l">
              <a:lnSpc>
                <a:spcPts val="2940"/>
              </a:lnSpc>
            </a:pPr>
            <a:endParaRPr lang="es-CL" sz="22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s-CL" sz="22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Tablero Kanban: Implementado para el control visual y seguimiento de tareas en desarrollo.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076325"/>
            <a:ext cx="8420100" cy="886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METODOLOGÍA</a:t>
            </a:r>
          </a:p>
        </p:txBody>
      </p:sp>
      <p:sp>
        <p:nvSpPr>
          <p:cNvPr id="9" name="Freeform 9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Freeform 10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D58E67F-AADF-95F7-05A8-C740D9F3AE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094" y="2583480"/>
            <a:ext cx="9752986" cy="645050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89E90B7-532B-52D7-4C63-ECAC73AFE6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66"/>
          <a:stretch>
            <a:fillRect/>
          </a:stretch>
        </p:blipFill>
        <p:spPr>
          <a:xfrm>
            <a:off x="1868812" y="6116567"/>
            <a:ext cx="6827519" cy="35381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3" name="Freeform 3"/>
          <p:cNvSpPr/>
          <p:nvPr/>
        </p:nvSpPr>
        <p:spPr>
          <a:xfrm rot="-10342683" flipV="1">
            <a:off x="9904647" y="-2999166"/>
            <a:ext cx="13239789" cy="12351619"/>
          </a:xfrm>
          <a:custGeom>
            <a:avLst/>
            <a:gdLst/>
            <a:ahLst/>
            <a:cxnLst/>
            <a:rect l="l" t="t" r="r" b="b"/>
            <a:pathLst>
              <a:path w="13239789" h="12351619">
                <a:moveTo>
                  <a:pt x="0" y="12351619"/>
                </a:moveTo>
                <a:lnTo>
                  <a:pt x="13239789" y="12351619"/>
                </a:lnTo>
                <a:lnTo>
                  <a:pt x="13239789" y="0"/>
                </a:lnTo>
                <a:lnTo>
                  <a:pt x="0" y="0"/>
                </a:lnTo>
                <a:lnTo>
                  <a:pt x="0" y="12351619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Freeform 7"/>
          <p:cNvSpPr/>
          <p:nvPr/>
        </p:nvSpPr>
        <p:spPr>
          <a:xfrm>
            <a:off x="1447800" y="2890524"/>
            <a:ext cx="12120140" cy="5866737"/>
          </a:xfrm>
          <a:custGeom>
            <a:avLst/>
            <a:gdLst/>
            <a:ahLst/>
            <a:cxnLst/>
            <a:rect l="l" t="t" r="r" b="b"/>
            <a:pathLst>
              <a:path w="8936589" h="4655279">
                <a:moveTo>
                  <a:pt x="0" y="0"/>
                </a:moveTo>
                <a:lnTo>
                  <a:pt x="8936589" y="0"/>
                </a:lnTo>
                <a:lnTo>
                  <a:pt x="8936589" y="4655279"/>
                </a:lnTo>
                <a:lnTo>
                  <a:pt x="0" y="4655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8" name="TextBox 8"/>
          <p:cNvSpPr txBox="1"/>
          <p:nvPr/>
        </p:nvSpPr>
        <p:spPr>
          <a:xfrm>
            <a:off x="1064895" y="882852"/>
            <a:ext cx="7691458" cy="115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CRONOGRAMA</a:t>
            </a:r>
          </a:p>
        </p:txBody>
      </p:sp>
      <p:sp>
        <p:nvSpPr>
          <p:cNvPr id="9" name="Freeform 9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Freeform 10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706383">
            <a:off x="-3680311" y="-34364"/>
            <a:ext cx="13659052" cy="13683931"/>
          </a:xfrm>
          <a:custGeom>
            <a:avLst/>
            <a:gdLst/>
            <a:ahLst/>
            <a:cxnLst/>
            <a:rect l="l" t="t" r="r" b="b"/>
            <a:pathLst>
              <a:path w="13659052" h="13683931">
                <a:moveTo>
                  <a:pt x="0" y="0"/>
                </a:moveTo>
                <a:lnTo>
                  <a:pt x="13659051" y="0"/>
                </a:lnTo>
                <a:lnTo>
                  <a:pt x="13659051" y="13683931"/>
                </a:lnTo>
                <a:lnTo>
                  <a:pt x="0" y="1368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TextBox 6"/>
          <p:cNvSpPr txBox="1"/>
          <p:nvPr/>
        </p:nvSpPr>
        <p:spPr>
          <a:xfrm>
            <a:off x="1028700" y="1085850"/>
            <a:ext cx="9944100" cy="206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REQUERIMIENTOS</a:t>
            </a:r>
          </a:p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FUNCIONALES</a:t>
            </a:r>
          </a:p>
        </p:txBody>
      </p:sp>
      <p:sp>
        <p:nvSpPr>
          <p:cNvPr id="7" name="Freeform 7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8" name="Freeform 8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E97E607F-8A9A-DD39-226F-ACF6A63762D2}"/>
              </a:ext>
            </a:extLst>
          </p:cNvPr>
          <p:cNvSpPr/>
          <p:nvPr/>
        </p:nvSpPr>
        <p:spPr>
          <a:xfrm rot="-10342683" flipH="1">
            <a:off x="-2903293" y="608955"/>
            <a:ext cx="7570316" cy="12015307"/>
          </a:xfrm>
          <a:custGeom>
            <a:avLst/>
            <a:gdLst/>
            <a:ahLst/>
            <a:cxnLst/>
            <a:rect l="l" t="t" r="r" b="b"/>
            <a:pathLst>
              <a:path w="7570316" h="12015307">
                <a:moveTo>
                  <a:pt x="7570316" y="0"/>
                </a:moveTo>
                <a:lnTo>
                  <a:pt x="0" y="0"/>
                </a:lnTo>
                <a:lnTo>
                  <a:pt x="0" y="12015306"/>
                </a:lnTo>
                <a:lnTo>
                  <a:pt x="7570316" y="12015306"/>
                </a:lnTo>
                <a:lnTo>
                  <a:pt x="7570316" y="0"/>
                </a:lnTo>
                <a:close/>
              </a:path>
            </a:pathLst>
          </a:custGeom>
          <a:blipFill>
            <a:blip r:embed="rId5"/>
            <a:stretch>
              <a:fillRect l="-70128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F3A0D8-5D84-0678-B59E-3486BF3FADC0}"/>
              </a:ext>
            </a:extLst>
          </p:cNvPr>
          <p:cNvSpPr txBox="1"/>
          <p:nvPr/>
        </p:nvSpPr>
        <p:spPr>
          <a:xfrm>
            <a:off x="3505200" y="3695700"/>
            <a:ext cx="1267632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RF01: Registro e Inicio de sesión.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El sistema debe permitir el registro de correo y contraseña.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Al iniciar sesión debe validar las credenciales.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El usuario solo puede acceder a vistas según los permisos asociados a su rol.</a:t>
            </a:r>
          </a:p>
          <a:p>
            <a:endParaRPr lang="es-MX" sz="2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RF06: Creación de Reservas.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El sistema debe permitir seleccionar servicio, fecha y hora.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Debe validar disponibilidad antes de confirmar.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Debe enviar confirmación automática.</a:t>
            </a:r>
          </a:p>
          <a:p>
            <a:endParaRPr lang="es-MX" sz="2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RF04: Configuración de Horarios.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El sistema debe permitir definir horarios fijos o variables.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Debe permitir bloquear días específicos.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Debe reflejar disponibilidad en el calendario.</a:t>
            </a:r>
          </a:p>
          <a:p>
            <a:endParaRPr lang="es-MX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DC8FD-B546-24C5-5D15-10C0891A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4AFD245D-418C-9286-E85E-64917257298A}"/>
              </a:ext>
            </a:extLst>
          </p:cNvPr>
          <p:cNvSpPr/>
          <p:nvPr/>
        </p:nvSpPr>
        <p:spPr>
          <a:xfrm rot="706383">
            <a:off x="-3680311" y="-34364"/>
            <a:ext cx="13659052" cy="13683931"/>
          </a:xfrm>
          <a:custGeom>
            <a:avLst/>
            <a:gdLst/>
            <a:ahLst/>
            <a:cxnLst/>
            <a:rect l="l" t="t" r="r" b="b"/>
            <a:pathLst>
              <a:path w="13659052" h="13683931">
                <a:moveTo>
                  <a:pt x="0" y="0"/>
                </a:moveTo>
                <a:lnTo>
                  <a:pt x="13659051" y="0"/>
                </a:lnTo>
                <a:lnTo>
                  <a:pt x="13659051" y="13683931"/>
                </a:lnTo>
                <a:lnTo>
                  <a:pt x="0" y="1368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B28A5AB-034B-B174-6F42-E856770EDE60}"/>
              </a:ext>
            </a:extLst>
          </p:cNvPr>
          <p:cNvSpPr txBox="1"/>
          <p:nvPr/>
        </p:nvSpPr>
        <p:spPr>
          <a:xfrm>
            <a:off x="1028700" y="1085850"/>
            <a:ext cx="9944100" cy="2066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REQUERIMIENTOS</a:t>
            </a:r>
          </a:p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NO FUNCIONALES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4A47CB6-3C58-8088-624F-5827F35B5F15}"/>
              </a:ext>
            </a:extLst>
          </p:cNvPr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CFC2687-D40F-3052-72E3-001E4ADCAF1F}"/>
              </a:ext>
            </a:extLst>
          </p:cNvPr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60DEE860-117A-FA89-B61B-0F202F7B1292}"/>
              </a:ext>
            </a:extLst>
          </p:cNvPr>
          <p:cNvSpPr/>
          <p:nvPr/>
        </p:nvSpPr>
        <p:spPr>
          <a:xfrm rot="-10342683" flipH="1">
            <a:off x="-2903293" y="608955"/>
            <a:ext cx="7570316" cy="12015307"/>
          </a:xfrm>
          <a:custGeom>
            <a:avLst/>
            <a:gdLst/>
            <a:ahLst/>
            <a:cxnLst/>
            <a:rect l="l" t="t" r="r" b="b"/>
            <a:pathLst>
              <a:path w="7570316" h="12015307">
                <a:moveTo>
                  <a:pt x="7570316" y="0"/>
                </a:moveTo>
                <a:lnTo>
                  <a:pt x="0" y="0"/>
                </a:lnTo>
                <a:lnTo>
                  <a:pt x="0" y="12015306"/>
                </a:lnTo>
                <a:lnTo>
                  <a:pt x="7570316" y="12015306"/>
                </a:lnTo>
                <a:lnTo>
                  <a:pt x="7570316" y="0"/>
                </a:lnTo>
                <a:close/>
              </a:path>
            </a:pathLst>
          </a:custGeom>
          <a:blipFill>
            <a:blip r:embed="rId5"/>
            <a:stretch>
              <a:fillRect l="-70128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F541B6F-D52F-A39C-C3F0-D675FAF437BA}"/>
              </a:ext>
            </a:extLst>
          </p:cNvPr>
          <p:cNvSpPr txBox="1"/>
          <p:nvPr/>
        </p:nvSpPr>
        <p:spPr>
          <a:xfrm>
            <a:off x="3505200" y="3695700"/>
            <a:ext cx="1267632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RNF03: Seguridad.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El sistema debe usar cifrado en datos sensibles.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Debe implementar autenticación segura.</a:t>
            </a:r>
          </a:p>
          <a:p>
            <a:endParaRPr lang="es-MX" sz="2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RNF07: Integridad y consistencia de datos.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El sistema debe validar que no existan registros duplicados de clientes, reservas o servicios.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Debe garantizar que las actualizaciones se reflejen en todas las vistas y reportes.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Debe mantener la coherencia de estados de reservas (ejemplo: no puede estar confirmada y cancelada al mismo tiempo).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Debe contar con mecanismos de respaldo para evitar pérdida de información.</a:t>
            </a:r>
          </a:p>
          <a:p>
            <a:endParaRPr lang="es-MX" sz="2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RNF06: Compatibilidad.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El sistema debe funcionar en browser como Chrome, Safari, Edge y navegadores móviles Android/iOS.</a:t>
            </a:r>
          </a:p>
        </p:txBody>
      </p:sp>
    </p:spTree>
    <p:extLst>
      <p:ext uri="{BB962C8B-B14F-4D97-AF65-F5344CB8AC3E}">
        <p14:creationId xmlns:p14="http://schemas.microsoft.com/office/powerpoint/2010/main" val="415988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06D2-5B74-1BE4-9F1F-E03B7152D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4BA209D-B1F9-A166-2C0C-CE74EEC84585}"/>
              </a:ext>
            </a:extLst>
          </p:cNvPr>
          <p:cNvSpPr txBox="1"/>
          <p:nvPr/>
        </p:nvSpPr>
        <p:spPr>
          <a:xfrm>
            <a:off x="1028700" y="1085850"/>
            <a:ext cx="8115300" cy="115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ARQUITECTURA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AAF379F-16B8-69E6-07BF-C5147FB90543}"/>
              </a:ext>
            </a:extLst>
          </p:cNvPr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46415D6-12B1-AEC6-4DDE-28AD0A4F390F}"/>
              </a:ext>
            </a:extLst>
          </p:cNvPr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8EC7F5-F1BF-ED02-21DC-7F700E149B99}"/>
              </a:ext>
            </a:extLst>
          </p:cNvPr>
          <p:cNvSpPr txBox="1"/>
          <p:nvPr/>
        </p:nvSpPr>
        <p:spPr>
          <a:xfrm>
            <a:off x="2933700" y="7805391"/>
            <a:ext cx="1242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Poppins" panose="00000500000000000000" pitchFamily="2" charset="0"/>
                <a:cs typeface="Poppins" panose="00000500000000000000" pitchFamily="2" charset="0"/>
              </a:rPr>
              <a:t>Arquitectura escalable y segura que permite operar múltiples negocios desde una única plataforma, garantizando aislamiento de datos, </a:t>
            </a:r>
            <a:r>
              <a:rPr lang="es-MX" sz="2400" dirty="0" err="1">
                <a:latin typeface="Poppins" panose="00000500000000000000" pitchFamily="2" charset="0"/>
                <a:cs typeface="Poppins" panose="00000500000000000000" pitchFamily="2" charset="0"/>
              </a:rPr>
              <a:t>APIs</a:t>
            </a:r>
            <a:r>
              <a:rPr lang="es-MX" sz="2400" dirty="0">
                <a:latin typeface="Poppins" panose="00000500000000000000" pitchFamily="2" charset="0"/>
                <a:cs typeface="Poppins" panose="00000500000000000000" pitchFamily="2" charset="0"/>
              </a:rPr>
              <a:t> estandarizadas y gestión eficiente de la información.</a:t>
            </a:r>
            <a:endParaRPr lang="es-CL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B71036-B30F-155C-0A3C-C5FA2712A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8836" y="2552700"/>
            <a:ext cx="14810328" cy="472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8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995534" y="685118"/>
            <a:ext cx="8279962" cy="2165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STACK TECNOLÓGICO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7" name="Freeform 17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7D71FF10-17AF-654B-93F2-40E96DB175D6}"/>
              </a:ext>
            </a:extLst>
          </p:cNvPr>
          <p:cNvGrpSpPr/>
          <p:nvPr/>
        </p:nvGrpSpPr>
        <p:grpSpPr>
          <a:xfrm>
            <a:off x="272253" y="2850393"/>
            <a:ext cx="3885812" cy="6183595"/>
            <a:chOff x="272253" y="2850393"/>
            <a:chExt cx="3885812" cy="6183595"/>
          </a:xfrm>
        </p:grpSpPr>
        <p:sp>
          <p:nvSpPr>
            <p:cNvPr id="5" name="Freeform 5"/>
            <p:cNvSpPr/>
            <p:nvPr/>
          </p:nvSpPr>
          <p:spPr>
            <a:xfrm>
              <a:off x="2387454" y="4722965"/>
              <a:ext cx="1447945" cy="1652220"/>
            </a:xfrm>
            <a:custGeom>
              <a:avLst/>
              <a:gdLst/>
              <a:ahLst/>
              <a:cxnLst/>
              <a:rect l="l" t="t" r="r" b="b"/>
              <a:pathLst>
                <a:path w="1447945" h="1652220">
                  <a:moveTo>
                    <a:pt x="0" y="0"/>
                  </a:moveTo>
                  <a:lnTo>
                    <a:pt x="1447945" y="0"/>
                  </a:lnTo>
                  <a:lnTo>
                    <a:pt x="1447945" y="1652220"/>
                  </a:lnTo>
                  <a:lnTo>
                    <a:pt x="0" y="1652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486935" y="6570112"/>
              <a:ext cx="1498812" cy="1747886"/>
            </a:xfrm>
            <a:custGeom>
              <a:avLst/>
              <a:gdLst/>
              <a:ahLst/>
              <a:cxnLst/>
              <a:rect l="l" t="t" r="r" b="b"/>
              <a:pathLst>
                <a:path w="1498812" h="1747886">
                  <a:moveTo>
                    <a:pt x="0" y="0"/>
                  </a:moveTo>
                  <a:lnTo>
                    <a:pt x="1498812" y="0"/>
                  </a:lnTo>
                  <a:lnTo>
                    <a:pt x="1498812" y="1747886"/>
                  </a:lnTo>
                  <a:lnTo>
                    <a:pt x="0" y="1747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526282" y="4367727"/>
              <a:ext cx="1111367" cy="1111367"/>
            </a:xfrm>
            <a:custGeom>
              <a:avLst/>
              <a:gdLst/>
              <a:ahLst/>
              <a:cxnLst/>
              <a:rect l="l" t="t" r="r" b="b"/>
              <a:pathLst>
                <a:path w="1111367" h="1111367">
                  <a:moveTo>
                    <a:pt x="0" y="0"/>
                  </a:moveTo>
                  <a:lnTo>
                    <a:pt x="1111367" y="0"/>
                  </a:lnTo>
                  <a:lnTo>
                    <a:pt x="1111367" y="1111367"/>
                  </a:lnTo>
                  <a:lnTo>
                    <a:pt x="0" y="1111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2382316" y="7343467"/>
              <a:ext cx="1250527" cy="1355937"/>
            </a:xfrm>
            <a:custGeom>
              <a:avLst/>
              <a:gdLst/>
              <a:ahLst/>
              <a:cxnLst/>
              <a:rect l="l" t="t" r="r" b="b"/>
              <a:pathLst>
                <a:path w="1525381" h="1525381">
                  <a:moveTo>
                    <a:pt x="0" y="0"/>
                  </a:moveTo>
                  <a:lnTo>
                    <a:pt x="1525381" y="0"/>
                  </a:lnTo>
                  <a:lnTo>
                    <a:pt x="1525381" y="1525381"/>
                  </a:lnTo>
                  <a:lnTo>
                    <a:pt x="0" y="1525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B7BFC49F-C026-8BE6-B8BB-D158BAFA3BE0}"/>
                </a:ext>
              </a:extLst>
            </p:cNvPr>
            <p:cNvSpPr txBox="1"/>
            <p:nvPr/>
          </p:nvSpPr>
          <p:spPr>
            <a:xfrm>
              <a:off x="584465" y="3231463"/>
              <a:ext cx="26533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800" dirty="0" err="1">
                  <a:solidFill>
                    <a:srgbClr val="2C9FC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Frontend</a:t>
              </a:r>
              <a:endParaRPr lang="es-CL" sz="2800" dirty="0">
                <a:solidFill>
                  <a:srgbClr val="2C9FC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0024A98D-8247-06DD-955A-8A92AA012CCB}"/>
                </a:ext>
              </a:extLst>
            </p:cNvPr>
            <p:cNvSpPr/>
            <p:nvPr/>
          </p:nvSpPr>
          <p:spPr>
            <a:xfrm>
              <a:off x="272253" y="2850393"/>
              <a:ext cx="3885812" cy="618359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129083A-7251-18CE-39D2-8D1A90613F48}"/>
              </a:ext>
            </a:extLst>
          </p:cNvPr>
          <p:cNvGrpSpPr/>
          <p:nvPr/>
        </p:nvGrpSpPr>
        <p:grpSpPr>
          <a:xfrm>
            <a:off x="4840411" y="3957038"/>
            <a:ext cx="5105400" cy="3796458"/>
            <a:chOff x="4648200" y="4000500"/>
            <a:chExt cx="5105400" cy="3796458"/>
          </a:xfrm>
        </p:grpSpPr>
        <p:sp>
          <p:nvSpPr>
            <p:cNvPr id="12" name="Freeform 12"/>
            <p:cNvSpPr/>
            <p:nvPr/>
          </p:nvSpPr>
          <p:spPr>
            <a:xfrm>
              <a:off x="4857251" y="5235924"/>
              <a:ext cx="2653399" cy="1688378"/>
            </a:xfrm>
            <a:custGeom>
              <a:avLst/>
              <a:gdLst/>
              <a:ahLst/>
              <a:cxnLst/>
              <a:rect l="l" t="t" r="r" b="b"/>
              <a:pathLst>
                <a:path w="2959155" h="2094683">
                  <a:moveTo>
                    <a:pt x="0" y="0"/>
                  </a:moveTo>
                  <a:lnTo>
                    <a:pt x="2959155" y="0"/>
                  </a:lnTo>
                  <a:lnTo>
                    <a:pt x="2959155" y="2094683"/>
                  </a:lnTo>
                  <a:lnTo>
                    <a:pt x="0" y="2094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7654098" y="5265813"/>
              <a:ext cx="1786587" cy="1841989"/>
            </a:xfrm>
            <a:custGeom>
              <a:avLst/>
              <a:gdLst/>
              <a:ahLst/>
              <a:cxnLst/>
              <a:rect l="l" t="t" r="r" b="b"/>
              <a:pathLst>
                <a:path w="2174670" h="2174670">
                  <a:moveTo>
                    <a:pt x="0" y="0"/>
                  </a:moveTo>
                  <a:lnTo>
                    <a:pt x="2174670" y="0"/>
                  </a:lnTo>
                  <a:lnTo>
                    <a:pt x="2174670" y="2174670"/>
                  </a:lnTo>
                  <a:lnTo>
                    <a:pt x="0" y="2174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381C2611-AA9F-EE78-E80C-116A17EB1729}"/>
                </a:ext>
              </a:extLst>
            </p:cNvPr>
            <p:cNvSpPr txBox="1"/>
            <p:nvPr/>
          </p:nvSpPr>
          <p:spPr>
            <a:xfrm>
              <a:off x="5403667" y="4277102"/>
              <a:ext cx="38858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800" dirty="0">
                  <a:solidFill>
                    <a:srgbClr val="2C9FC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Business </a:t>
              </a:r>
              <a:r>
                <a:rPr lang="es-MX" sz="2800" dirty="0" err="1">
                  <a:solidFill>
                    <a:srgbClr val="2C9FC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Intelligence</a:t>
              </a:r>
              <a:endParaRPr lang="es-CL" sz="2800" dirty="0">
                <a:solidFill>
                  <a:srgbClr val="2C9FC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F92C864C-0A22-EE0D-AC22-400602ADCADC}"/>
                </a:ext>
              </a:extLst>
            </p:cNvPr>
            <p:cNvSpPr/>
            <p:nvPr/>
          </p:nvSpPr>
          <p:spPr>
            <a:xfrm>
              <a:off x="4648200" y="4000500"/>
              <a:ext cx="5105400" cy="37964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D4F5FCE-55F4-739E-B583-EE611E5C225F}"/>
              </a:ext>
            </a:extLst>
          </p:cNvPr>
          <p:cNvGrpSpPr/>
          <p:nvPr/>
        </p:nvGrpSpPr>
        <p:grpSpPr>
          <a:xfrm>
            <a:off x="10413735" y="2806932"/>
            <a:ext cx="7315200" cy="6183594"/>
            <a:chOff x="9977266" y="2850394"/>
            <a:chExt cx="7315200" cy="6183594"/>
          </a:xfrm>
        </p:grpSpPr>
        <p:sp>
          <p:nvSpPr>
            <p:cNvPr id="9" name="Freeform 9"/>
            <p:cNvSpPr/>
            <p:nvPr/>
          </p:nvSpPr>
          <p:spPr>
            <a:xfrm>
              <a:off x="11827518" y="4315202"/>
              <a:ext cx="1656595" cy="1656595"/>
            </a:xfrm>
            <a:custGeom>
              <a:avLst/>
              <a:gdLst/>
              <a:ahLst/>
              <a:cxnLst/>
              <a:rect l="l" t="t" r="r" b="b"/>
              <a:pathLst>
                <a:path w="1656595" h="1656595">
                  <a:moveTo>
                    <a:pt x="0" y="0"/>
                  </a:moveTo>
                  <a:lnTo>
                    <a:pt x="1656595" y="0"/>
                  </a:lnTo>
                  <a:lnTo>
                    <a:pt x="1656595" y="1656595"/>
                  </a:lnTo>
                  <a:lnTo>
                    <a:pt x="0" y="1656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4380692" y="4704350"/>
              <a:ext cx="2229331" cy="1010946"/>
            </a:xfrm>
            <a:custGeom>
              <a:avLst/>
              <a:gdLst/>
              <a:ahLst/>
              <a:cxnLst/>
              <a:rect l="l" t="t" r="r" b="b"/>
              <a:pathLst>
                <a:path w="2229331" h="1010946">
                  <a:moveTo>
                    <a:pt x="0" y="0"/>
                  </a:moveTo>
                  <a:lnTo>
                    <a:pt x="2229332" y="0"/>
                  </a:lnTo>
                  <a:lnTo>
                    <a:pt x="2229332" y="1010946"/>
                  </a:lnTo>
                  <a:lnTo>
                    <a:pt x="0" y="1010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61141" b="-59377"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434468" y="6418647"/>
              <a:ext cx="2199675" cy="1378311"/>
            </a:xfrm>
            <a:custGeom>
              <a:avLst/>
              <a:gdLst/>
              <a:ahLst/>
              <a:cxnLst/>
              <a:rect l="l" t="t" r="r" b="b"/>
              <a:pathLst>
                <a:path w="2199675" h="1378311">
                  <a:moveTo>
                    <a:pt x="0" y="0"/>
                  </a:moveTo>
                  <a:lnTo>
                    <a:pt x="2199675" y="0"/>
                  </a:lnTo>
                  <a:lnTo>
                    <a:pt x="2199675" y="1378311"/>
                  </a:lnTo>
                  <a:lnTo>
                    <a:pt x="0" y="137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2388" b="-27203"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2955862" y="5872963"/>
              <a:ext cx="3308621" cy="3060775"/>
            </a:xfrm>
            <a:custGeom>
              <a:avLst/>
              <a:gdLst/>
              <a:ahLst/>
              <a:cxnLst/>
              <a:rect l="l" t="t" r="r" b="b"/>
              <a:pathLst>
                <a:path w="3476567" h="3482842">
                  <a:moveTo>
                    <a:pt x="0" y="0"/>
                  </a:moveTo>
                  <a:lnTo>
                    <a:pt x="3476567" y="0"/>
                  </a:lnTo>
                  <a:lnTo>
                    <a:pt x="3476567" y="3482842"/>
                  </a:lnTo>
                  <a:lnTo>
                    <a:pt x="0" y="3482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DF962DE8-D22C-B7ED-8DC7-E554733DDA2A}"/>
                </a:ext>
              </a:extLst>
            </p:cNvPr>
            <p:cNvSpPr txBox="1"/>
            <p:nvPr/>
          </p:nvSpPr>
          <p:spPr>
            <a:xfrm>
              <a:off x="10744200" y="3387917"/>
              <a:ext cx="26533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800" dirty="0" err="1">
                  <a:solidFill>
                    <a:srgbClr val="2C9FC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Backend</a:t>
              </a:r>
              <a:endParaRPr lang="es-CL" sz="2800" dirty="0">
                <a:solidFill>
                  <a:srgbClr val="2C9FC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2C19564-144C-3419-1145-83FD7DB1B9C9}"/>
                </a:ext>
              </a:extLst>
            </p:cNvPr>
            <p:cNvSpPr/>
            <p:nvPr/>
          </p:nvSpPr>
          <p:spPr>
            <a:xfrm>
              <a:off x="9977266" y="2850394"/>
              <a:ext cx="7315200" cy="61835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B196DFE6-39C4-755C-A05A-DDF18BD50B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656" y="59353"/>
            <a:ext cx="6825139" cy="9808547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 rot="706383">
            <a:off x="-3680311" y="-34364"/>
            <a:ext cx="13659052" cy="13683931"/>
          </a:xfrm>
          <a:custGeom>
            <a:avLst/>
            <a:gdLst/>
            <a:ahLst/>
            <a:cxnLst/>
            <a:rect l="l" t="t" r="r" b="b"/>
            <a:pathLst>
              <a:path w="13659052" h="13683931">
                <a:moveTo>
                  <a:pt x="0" y="0"/>
                </a:moveTo>
                <a:lnTo>
                  <a:pt x="13659051" y="0"/>
                </a:lnTo>
                <a:lnTo>
                  <a:pt x="13659051" y="13683931"/>
                </a:lnTo>
                <a:lnTo>
                  <a:pt x="0" y="1368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TextBox 7"/>
          <p:cNvSpPr txBox="1"/>
          <p:nvPr/>
        </p:nvSpPr>
        <p:spPr>
          <a:xfrm>
            <a:off x="881865" y="3619500"/>
            <a:ext cx="7893502" cy="2213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s-CL" sz="22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Motor: PostgreSQL (Relacional, Código abierto).</a:t>
            </a:r>
          </a:p>
          <a:p>
            <a:pPr algn="l">
              <a:lnSpc>
                <a:spcPts val="2940"/>
              </a:lnSpc>
            </a:pPr>
            <a:endParaRPr lang="es-CL" sz="22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40"/>
              </a:lnSpc>
            </a:pPr>
            <a:r>
              <a:rPr lang="es-CL" sz="22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Características: Cumplimiento de propiedades ACID (Atomicidad, Consistencia, Aislamiento y Durabilidad) para evitar cuellos de botella operativos.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1076325"/>
            <a:ext cx="7601769" cy="17071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MODELO DE DATOS</a:t>
            </a:r>
          </a:p>
        </p:txBody>
      </p:sp>
      <p:sp>
        <p:nvSpPr>
          <p:cNvPr id="9" name="Freeform 9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Freeform 10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0749363D-608A-C181-D284-E8130EFA43F4}"/>
              </a:ext>
            </a:extLst>
          </p:cNvPr>
          <p:cNvSpPr/>
          <p:nvPr/>
        </p:nvSpPr>
        <p:spPr>
          <a:xfrm rot="-10342683" flipH="1">
            <a:off x="-2903293" y="608955"/>
            <a:ext cx="7570316" cy="12015307"/>
          </a:xfrm>
          <a:custGeom>
            <a:avLst/>
            <a:gdLst/>
            <a:ahLst/>
            <a:cxnLst/>
            <a:rect l="l" t="t" r="r" b="b"/>
            <a:pathLst>
              <a:path w="7570316" h="12015307">
                <a:moveTo>
                  <a:pt x="7570316" y="0"/>
                </a:moveTo>
                <a:lnTo>
                  <a:pt x="0" y="0"/>
                </a:lnTo>
                <a:lnTo>
                  <a:pt x="0" y="12015306"/>
                </a:lnTo>
                <a:lnTo>
                  <a:pt x="7570316" y="12015306"/>
                </a:lnTo>
                <a:lnTo>
                  <a:pt x="7570316" y="0"/>
                </a:lnTo>
                <a:close/>
              </a:path>
            </a:pathLst>
          </a:custGeom>
          <a:blipFill>
            <a:blip r:embed="rId7"/>
            <a:stretch>
              <a:fillRect l="-70128"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9D9A-0388-5705-66FF-966AE636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707F074B-ABA1-DAD1-9EF1-B77C171BB512}"/>
              </a:ext>
            </a:extLst>
          </p:cNvPr>
          <p:cNvSpPr/>
          <p:nvPr/>
        </p:nvSpPr>
        <p:spPr>
          <a:xfrm rot="-10342683" flipH="1">
            <a:off x="-2532245" y="432353"/>
            <a:ext cx="7570316" cy="12015307"/>
          </a:xfrm>
          <a:custGeom>
            <a:avLst/>
            <a:gdLst/>
            <a:ahLst/>
            <a:cxnLst/>
            <a:rect l="l" t="t" r="r" b="b"/>
            <a:pathLst>
              <a:path w="7570316" h="12015307">
                <a:moveTo>
                  <a:pt x="7570316" y="0"/>
                </a:moveTo>
                <a:lnTo>
                  <a:pt x="0" y="0"/>
                </a:lnTo>
                <a:lnTo>
                  <a:pt x="0" y="12015306"/>
                </a:lnTo>
                <a:lnTo>
                  <a:pt x="7570316" y="12015306"/>
                </a:lnTo>
                <a:lnTo>
                  <a:pt x="7570316" y="0"/>
                </a:lnTo>
                <a:close/>
              </a:path>
            </a:pathLst>
          </a:custGeom>
          <a:blipFill>
            <a:blip r:embed="rId2"/>
            <a:stretch>
              <a:fillRect l="-70128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BBA05FD-2A8E-6DD3-6F97-A35E08136F88}"/>
              </a:ext>
            </a:extLst>
          </p:cNvPr>
          <p:cNvSpPr txBox="1"/>
          <p:nvPr/>
        </p:nvSpPr>
        <p:spPr>
          <a:xfrm>
            <a:off x="1143000" y="951229"/>
            <a:ext cx="11587702" cy="1040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MODELO DE NEGOCIO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558BFC8-0AAA-7A89-BDB7-EC76BC68BF1C}"/>
              </a:ext>
            </a:extLst>
          </p:cNvPr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DAAE3D7-332D-E7B6-8778-300B71BA5F29}"/>
              </a:ext>
            </a:extLst>
          </p:cNvPr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B8BB986F-E061-04A9-38AF-EE866D46DDC9}"/>
              </a:ext>
            </a:extLst>
          </p:cNvPr>
          <p:cNvGrpSpPr/>
          <p:nvPr/>
        </p:nvGrpSpPr>
        <p:grpSpPr>
          <a:xfrm>
            <a:off x="5714856" y="2346064"/>
            <a:ext cx="7192946" cy="2273514"/>
            <a:chOff x="2725625" y="2575996"/>
            <a:chExt cx="7631212" cy="2515226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366A127-285B-A11C-0BF7-01CA35017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3200" y="2575997"/>
              <a:ext cx="1333687" cy="1327906"/>
            </a:xfrm>
            <a:prstGeom prst="rect">
              <a:avLst/>
            </a:prstGeom>
          </p:spPr>
        </p:pic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2FEC83E1-AB66-07DD-5BE5-3E0504A96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414" b="9414"/>
            <a:stretch>
              <a:fillRect/>
            </a:stretch>
          </p:blipFill>
          <p:spPr>
            <a:xfrm>
              <a:off x="5700642" y="2575996"/>
              <a:ext cx="1643016" cy="1327906"/>
            </a:xfrm>
            <a:prstGeom prst="rect">
              <a:avLst/>
            </a:prstGeom>
          </p:spPr>
        </p:pic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9E5FDB6C-2B1B-899C-A1AA-8E4C593A3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8185" y="2575997"/>
              <a:ext cx="1333686" cy="1327905"/>
            </a:xfrm>
            <a:prstGeom prst="rect">
              <a:avLst/>
            </a:prstGeom>
          </p:spPr>
        </p:pic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9F89A29-3C30-4B1B-C809-2F466D6EBFD8}"/>
                </a:ext>
              </a:extLst>
            </p:cNvPr>
            <p:cNvSpPr txBox="1"/>
            <p:nvPr/>
          </p:nvSpPr>
          <p:spPr>
            <a:xfrm>
              <a:off x="2725625" y="3865427"/>
              <a:ext cx="137658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200" dirty="0">
                  <a:latin typeface="Poppins" panose="00000500000000000000" pitchFamily="2" charset="0"/>
                  <a:cs typeface="Poppins" panose="00000500000000000000" pitchFamily="2" charset="0"/>
                </a:rPr>
                <a:t>Dueño</a:t>
              </a:r>
              <a:endParaRPr lang="es-CL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13EDB24-84B9-F17F-1F65-871ADB990A0F}"/>
                </a:ext>
              </a:extLst>
            </p:cNvPr>
            <p:cNvSpPr txBox="1"/>
            <p:nvPr/>
          </p:nvSpPr>
          <p:spPr>
            <a:xfrm>
              <a:off x="5394071" y="3865427"/>
              <a:ext cx="2543465" cy="1225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200" dirty="0">
                  <a:latin typeface="Poppins" panose="00000500000000000000" pitchFamily="2" charset="0"/>
                  <a:cs typeface="Poppins" panose="00000500000000000000" pitchFamily="2" charset="0"/>
                </a:rPr>
                <a:t>Staff: </a:t>
              </a:r>
            </a:p>
            <a:p>
              <a:r>
                <a:rPr lang="es-MX" sz="2200" dirty="0">
                  <a:latin typeface="Poppins" panose="00000500000000000000" pitchFamily="2" charset="0"/>
                  <a:cs typeface="Poppins" panose="00000500000000000000" pitchFamily="2" charset="0"/>
                </a:rPr>
                <a:t>Administrador</a:t>
              </a:r>
            </a:p>
            <a:p>
              <a:r>
                <a:rPr lang="es-MX" sz="2200" dirty="0">
                  <a:latin typeface="Poppins" panose="00000500000000000000" pitchFamily="2" charset="0"/>
                  <a:cs typeface="Poppins" panose="00000500000000000000" pitchFamily="2" charset="0"/>
                </a:rPr>
                <a:t>Estilista</a:t>
              </a:r>
              <a:endParaRPr lang="es-CL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F0E57DA8-C34C-B24F-104A-B4AEE8A83365}"/>
                </a:ext>
              </a:extLst>
            </p:cNvPr>
            <p:cNvSpPr txBox="1"/>
            <p:nvPr/>
          </p:nvSpPr>
          <p:spPr>
            <a:xfrm>
              <a:off x="9023152" y="3886966"/>
              <a:ext cx="13336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200" dirty="0">
                  <a:latin typeface="Poppins" panose="00000500000000000000" pitchFamily="2" charset="0"/>
                  <a:cs typeface="Poppins" panose="00000500000000000000" pitchFamily="2" charset="0"/>
                </a:rPr>
                <a:t>Cliente</a:t>
              </a:r>
              <a:endParaRPr lang="es-CL" sz="2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D32C022D-35CF-C26C-B370-6558012F60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40704" y="6136520"/>
            <a:ext cx="1565643" cy="155640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2367936B-6A67-C2F7-7372-B54F06361C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56745" y="6209298"/>
            <a:ext cx="1565643" cy="1556401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B64B47EE-B1D6-F86B-1DF0-852F0E10A0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79818" y="6049805"/>
            <a:ext cx="1565643" cy="1556401"/>
          </a:xfrm>
          <a:prstGeom prst="rect">
            <a:avLst/>
          </a:prstGeom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F4CEC167-F2AE-4EA1-519A-5BCAABC20C7A}"/>
              </a:ext>
            </a:extLst>
          </p:cNvPr>
          <p:cNvSpPr txBox="1"/>
          <p:nvPr/>
        </p:nvSpPr>
        <p:spPr>
          <a:xfrm>
            <a:off x="1837092" y="7686365"/>
            <a:ext cx="1972867" cy="48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dirty="0" err="1">
                <a:latin typeface="Poppins" panose="00000500000000000000" pitchFamily="2" charset="0"/>
                <a:cs typeface="Poppins" panose="00000500000000000000" pitchFamily="2" charset="0"/>
              </a:rPr>
              <a:t>Essential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60164E3-5B2C-F413-4FC0-658F14CF90B6}"/>
              </a:ext>
            </a:extLst>
          </p:cNvPr>
          <p:cNvSpPr txBox="1"/>
          <p:nvPr/>
        </p:nvSpPr>
        <p:spPr>
          <a:xfrm>
            <a:off x="7013949" y="7599649"/>
            <a:ext cx="2297380" cy="48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Professional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F6C35A1-EB91-4FC7-4BB7-D17E4682DE16}"/>
              </a:ext>
            </a:extLst>
          </p:cNvPr>
          <p:cNvSpPr txBox="1"/>
          <p:nvPr/>
        </p:nvSpPr>
        <p:spPr>
          <a:xfrm>
            <a:off x="12753133" y="7759141"/>
            <a:ext cx="1972867" cy="48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dirty="0" err="1">
                <a:latin typeface="Poppins" panose="00000500000000000000" pitchFamily="2" charset="0"/>
                <a:cs typeface="Poppins" panose="00000500000000000000" pitchFamily="2" charset="0"/>
              </a:rPr>
              <a:t>Luxury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2159449-FB98-A8D6-3648-B515837C1CCA}"/>
              </a:ext>
            </a:extLst>
          </p:cNvPr>
          <p:cNvSpPr txBox="1"/>
          <p:nvPr/>
        </p:nvSpPr>
        <p:spPr>
          <a:xfrm>
            <a:off x="3606346" y="6531257"/>
            <a:ext cx="32588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2 usuarios staff</a:t>
            </a:r>
          </a:p>
          <a:p>
            <a:r>
              <a:rPr lang="es-MX" sz="2200" dirty="0" err="1">
                <a:latin typeface="Poppins" panose="00000500000000000000" pitchFamily="2" charset="0"/>
                <a:cs typeface="Poppins" panose="00000500000000000000" pitchFamily="2" charset="0"/>
              </a:rPr>
              <a:t>Dashboard</a:t>
            </a: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 Meta financiera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3077D5A-FF08-1983-9972-853981E22D7E}"/>
              </a:ext>
            </a:extLst>
          </p:cNvPr>
          <p:cNvSpPr txBox="1"/>
          <p:nvPr/>
        </p:nvSpPr>
        <p:spPr>
          <a:xfrm>
            <a:off x="9101594" y="6440007"/>
            <a:ext cx="325888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4 usuarios staff</a:t>
            </a:r>
          </a:p>
          <a:p>
            <a:r>
              <a:rPr lang="es-MX" sz="2200" dirty="0" err="1">
                <a:latin typeface="Poppins" panose="00000500000000000000" pitchFamily="2" charset="0"/>
                <a:cs typeface="Poppins" panose="00000500000000000000" pitchFamily="2" charset="0"/>
              </a:rPr>
              <a:t>Dashboard</a:t>
            </a: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 1</a:t>
            </a:r>
          </a:p>
          <a:p>
            <a:r>
              <a:rPr lang="es-MX" sz="2200" dirty="0" err="1">
                <a:latin typeface="Poppins" panose="00000500000000000000" pitchFamily="2" charset="0"/>
                <a:cs typeface="Poppins" panose="00000500000000000000" pitchFamily="2" charset="0"/>
              </a:rPr>
              <a:t>Dashboard</a:t>
            </a: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 ganancias colaboradores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30FD8C4-FADC-DEEF-6214-32B08F4E16D9}"/>
              </a:ext>
            </a:extLst>
          </p:cNvPr>
          <p:cNvSpPr txBox="1"/>
          <p:nvPr/>
        </p:nvSpPr>
        <p:spPr>
          <a:xfrm>
            <a:off x="14642909" y="6209165"/>
            <a:ext cx="325888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6 usuarios staff</a:t>
            </a:r>
          </a:p>
          <a:p>
            <a:r>
              <a:rPr lang="es-MX" sz="2200" dirty="0" err="1">
                <a:latin typeface="Poppins" panose="00000500000000000000" pitchFamily="2" charset="0"/>
                <a:cs typeface="Poppins" panose="00000500000000000000" pitchFamily="2" charset="0"/>
              </a:rPr>
              <a:t>Dashboard</a:t>
            </a: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 1</a:t>
            </a:r>
          </a:p>
          <a:p>
            <a:r>
              <a:rPr lang="es-MX" sz="2200" dirty="0" err="1">
                <a:latin typeface="Poppins" panose="00000500000000000000" pitchFamily="2" charset="0"/>
                <a:cs typeface="Poppins" panose="00000500000000000000" pitchFamily="2" charset="0"/>
              </a:rPr>
              <a:t>Dashboard</a:t>
            </a: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 2</a:t>
            </a:r>
          </a:p>
          <a:p>
            <a:r>
              <a:rPr lang="es-MX" sz="2200" dirty="0" err="1">
                <a:latin typeface="Poppins" panose="00000500000000000000" pitchFamily="2" charset="0"/>
                <a:cs typeface="Poppins" panose="00000500000000000000" pitchFamily="2" charset="0"/>
              </a:rPr>
              <a:t>Dashboard</a:t>
            </a:r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 Modelo predictivo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B22D2B9-554B-C478-7E00-E628F32460DA}"/>
              </a:ext>
            </a:extLst>
          </p:cNvPr>
          <p:cNvSpPr txBox="1"/>
          <p:nvPr/>
        </p:nvSpPr>
        <p:spPr>
          <a:xfrm>
            <a:off x="2431635" y="2712032"/>
            <a:ext cx="2521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latin typeface="Poppins" panose="00000500000000000000" pitchFamily="2" charset="0"/>
                <a:cs typeface="Poppins" panose="00000500000000000000" pitchFamily="2" charset="0"/>
              </a:rPr>
              <a:t>Usuarios: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79E8FDD-9513-9FE2-0D59-C851C69009FA}"/>
              </a:ext>
            </a:extLst>
          </p:cNvPr>
          <p:cNvSpPr txBox="1"/>
          <p:nvPr/>
        </p:nvSpPr>
        <p:spPr>
          <a:xfrm>
            <a:off x="2431635" y="5073579"/>
            <a:ext cx="2521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latin typeface="Poppins" panose="00000500000000000000" pitchFamily="2" charset="0"/>
                <a:cs typeface="Poppins" panose="00000500000000000000" pitchFamily="2" charset="0"/>
              </a:rPr>
              <a:t>Planes: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562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84282-1D67-8216-819B-F1F58F11D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FA6F57E-7AEE-7C63-78D2-1DAA77A714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" b="12766"/>
          <a:stretch>
            <a:fillRect/>
          </a:stretch>
        </p:blipFill>
        <p:spPr>
          <a:xfrm>
            <a:off x="0" y="0"/>
            <a:ext cx="18288000" cy="10629900"/>
          </a:xfrm>
          <a:prstGeom prst="rect">
            <a:avLst/>
          </a:prstGeom>
          <a:effectLst/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A72A8DB-78B6-E2F6-4557-89717856929D}"/>
              </a:ext>
            </a:extLst>
          </p:cNvPr>
          <p:cNvSpPr/>
          <p:nvPr/>
        </p:nvSpPr>
        <p:spPr>
          <a:xfrm>
            <a:off x="0" y="0"/>
            <a:ext cx="18288000" cy="10629900"/>
          </a:xfrm>
          <a:prstGeom prst="rect">
            <a:avLst/>
          </a:prstGeom>
          <a:solidFill>
            <a:schemeClr val="tx1">
              <a:lumMod val="50000"/>
              <a:lumOff val="50000"/>
              <a:alpha val="4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14B086B1-1F60-0817-2E91-A3925DFC2CA0}"/>
              </a:ext>
            </a:extLst>
          </p:cNvPr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87B534D-526F-1DAE-2BE3-C13DB8820755}"/>
              </a:ext>
            </a:extLst>
          </p:cNvPr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F81F540-6C65-F589-865D-A3A79E5709C8}"/>
              </a:ext>
            </a:extLst>
          </p:cNvPr>
          <p:cNvSpPr txBox="1"/>
          <p:nvPr/>
        </p:nvSpPr>
        <p:spPr>
          <a:xfrm>
            <a:off x="1028700" y="781050"/>
            <a:ext cx="99441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000" dirty="0">
                <a:solidFill>
                  <a:schemeClr val="bg1"/>
                </a:solidFill>
                <a:latin typeface="Telegraf"/>
                <a:ea typeface="Telegraf"/>
                <a:cs typeface="Telegraf"/>
                <a:sym typeface="Telegraf"/>
              </a:rPr>
              <a:t>DEMO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411BF2-090D-040D-7EFF-75D55AAD1780}"/>
              </a:ext>
            </a:extLst>
          </p:cNvPr>
          <p:cNvSpPr txBox="1"/>
          <p:nvPr/>
        </p:nvSpPr>
        <p:spPr>
          <a:xfrm>
            <a:off x="3831184" y="3086100"/>
            <a:ext cx="10625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dirty="0">
                <a:hlinkClick r:id="rId5"/>
              </a:rPr>
              <a:t>Enlace Demostración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1430987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3" name="Freeform 3"/>
          <p:cNvSpPr/>
          <p:nvPr/>
        </p:nvSpPr>
        <p:spPr>
          <a:xfrm rot="706383">
            <a:off x="-3680311" y="-34364"/>
            <a:ext cx="13659052" cy="13683931"/>
          </a:xfrm>
          <a:custGeom>
            <a:avLst/>
            <a:gdLst/>
            <a:ahLst/>
            <a:cxnLst/>
            <a:rect l="l" t="t" r="r" b="b"/>
            <a:pathLst>
              <a:path w="13659052" h="13683931">
                <a:moveTo>
                  <a:pt x="0" y="0"/>
                </a:moveTo>
                <a:lnTo>
                  <a:pt x="13659051" y="0"/>
                </a:lnTo>
                <a:lnTo>
                  <a:pt x="13659051" y="13683931"/>
                </a:lnTo>
                <a:lnTo>
                  <a:pt x="0" y="136839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4" name="Freeform 4"/>
          <p:cNvSpPr/>
          <p:nvPr/>
        </p:nvSpPr>
        <p:spPr>
          <a:xfrm rot="-10342683" flipV="1">
            <a:off x="9391117" y="-1398699"/>
            <a:ext cx="13239789" cy="12351619"/>
          </a:xfrm>
          <a:custGeom>
            <a:avLst/>
            <a:gdLst/>
            <a:ahLst/>
            <a:cxnLst/>
            <a:rect l="l" t="t" r="r" b="b"/>
            <a:pathLst>
              <a:path w="13239789" h="12351619">
                <a:moveTo>
                  <a:pt x="0" y="12351620"/>
                </a:moveTo>
                <a:lnTo>
                  <a:pt x="13239788" y="12351620"/>
                </a:lnTo>
                <a:lnTo>
                  <a:pt x="13239788" y="0"/>
                </a:lnTo>
                <a:lnTo>
                  <a:pt x="0" y="0"/>
                </a:lnTo>
                <a:lnTo>
                  <a:pt x="0" y="1235162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TextBox 7"/>
          <p:cNvSpPr txBox="1"/>
          <p:nvPr/>
        </p:nvSpPr>
        <p:spPr>
          <a:xfrm>
            <a:off x="1028700" y="3785025"/>
            <a:ext cx="12031231" cy="56453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Migración Móvil: Gracias al diseño desacoplado, se proyecta el desarrollo de apps nativas en Flutter o React Native.</a:t>
            </a:r>
          </a:p>
          <a:p>
            <a:pPr algn="just">
              <a:lnSpc>
                <a:spcPts val="3359"/>
              </a:lnSpc>
            </a:pPr>
            <a:endParaRPr lang="es-CL" sz="24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59"/>
              </a:lnSpc>
            </a:pPr>
            <a:r>
              <a:rPr lang="es-CL" sz="2400" noProof="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Expansión de Servicios: Incorporación de nuevos rubros (manicure, masajes, etc.) mediante categorías dinámicas en la base de datos.</a:t>
            </a:r>
          </a:p>
          <a:p>
            <a:pPr algn="just">
              <a:lnSpc>
                <a:spcPts val="3359"/>
              </a:lnSpc>
            </a:pPr>
            <a:endParaRPr lang="es-CL" sz="240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59"/>
              </a:lnSpc>
            </a:pPr>
            <a:r>
              <a:rPr lang="es-CL" sz="24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Reportería: generación de reportes mensuales para usuarios con métricas como por ejemplo los servicios realizados en el mes (modo respaldo).</a:t>
            </a:r>
          </a:p>
          <a:p>
            <a:pPr algn="just">
              <a:lnSpc>
                <a:spcPts val="3359"/>
              </a:lnSpc>
            </a:pPr>
            <a:endParaRPr lang="es-CL" sz="240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59"/>
              </a:lnSpc>
            </a:pPr>
            <a:r>
              <a:rPr lang="es-MX" sz="24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Offline: Implementación de mecanismo de procesamiento asíncrono con persistencia local y sincronización diferida (Store-and-Forward), permitiendo registrar transacciones aun cuando exista pérdida temporal de conectividad</a:t>
            </a:r>
            <a:r>
              <a:rPr lang="es-CL" sz="2400" dirty="0">
                <a:solidFill>
                  <a:srgbClr val="10101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s-CL" sz="2400" noProof="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359"/>
              </a:lnSpc>
            </a:pPr>
            <a:endParaRPr lang="en-US" sz="2400" dirty="0">
              <a:solidFill>
                <a:srgbClr val="10101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781050"/>
            <a:ext cx="99441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0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MEJORAS A FUTURO</a:t>
            </a:r>
          </a:p>
        </p:txBody>
      </p:sp>
      <p:sp>
        <p:nvSpPr>
          <p:cNvPr id="9" name="Freeform 9"/>
          <p:cNvSpPr/>
          <p:nvPr/>
        </p:nvSpPr>
        <p:spPr>
          <a:xfrm>
            <a:off x="16419124" y="0"/>
            <a:ext cx="1868876" cy="1868876"/>
          </a:xfrm>
          <a:custGeom>
            <a:avLst/>
            <a:gdLst/>
            <a:ahLst/>
            <a:cxnLst/>
            <a:rect l="l" t="t" r="r" b="b"/>
            <a:pathLst>
              <a:path w="1868876" h="1868876">
                <a:moveTo>
                  <a:pt x="0" y="0"/>
                </a:moveTo>
                <a:lnTo>
                  <a:pt x="1868876" y="0"/>
                </a:lnTo>
                <a:lnTo>
                  <a:pt x="1868876" y="1868876"/>
                </a:lnTo>
                <a:lnTo>
                  <a:pt x="0" y="1868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0" name="Freeform 10"/>
          <p:cNvSpPr/>
          <p:nvPr/>
        </p:nvSpPr>
        <p:spPr>
          <a:xfrm>
            <a:off x="13826032" y="9033988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2"/>
                </a:lnTo>
                <a:lnTo>
                  <a:pt x="0" y="1030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032797"/>
            <a:ext cx="9037256" cy="4211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40"/>
              </a:lnSpc>
            </a:pPr>
            <a:r>
              <a:rPr lang="en-US" sz="14400" dirty="0">
                <a:solidFill>
                  <a:srgbClr val="2C9FC4"/>
                </a:solidFill>
                <a:latin typeface="Telegraf"/>
                <a:ea typeface="Telegraf"/>
                <a:cs typeface="Telegraf"/>
                <a:sym typeface="Telegraf"/>
              </a:rPr>
              <a:t>MUCHAS GRACIAS</a:t>
            </a:r>
          </a:p>
        </p:txBody>
      </p:sp>
      <p:sp>
        <p:nvSpPr>
          <p:cNvPr id="4" name="Freeform 4"/>
          <p:cNvSpPr/>
          <p:nvPr/>
        </p:nvSpPr>
        <p:spPr>
          <a:xfrm rot="-10342683" flipV="1">
            <a:off x="10067905" y="-2567427"/>
            <a:ext cx="13239789" cy="12351619"/>
          </a:xfrm>
          <a:custGeom>
            <a:avLst/>
            <a:gdLst/>
            <a:ahLst/>
            <a:cxnLst/>
            <a:rect l="l" t="t" r="r" b="b"/>
            <a:pathLst>
              <a:path w="13239789" h="12351619">
                <a:moveTo>
                  <a:pt x="0" y="12351620"/>
                </a:moveTo>
                <a:lnTo>
                  <a:pt x="13239788" y="12351620"/>
                </a:lnTo>
                <a:lnTo>
                  <a:pt x="13239788" y="0"/>
                </a:lnTo>
                <a:lnTo>
                  <a:pt x="0" y="0"/>
                </a:lnTo>
                <a:lnTo>
                  <a:pt x="0" y="1235162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5" name="Freeform 5"/>
          <p:cNvSpPr/>
          <p:nvPr/>
        </p:nvSpPr>
        <p:spPr>
          <a:xfrm>
            <a:off x="10560300" y="3042322"/>
            <a:ext cx="3817070" cy="2604751"/>
          </a:xfrm>
          <a:custGeom>
            <a:avLst/>
            <a:gdLst/>
            <a:ahLst/>
            <a:cxnLst/>
            <a:rect l="l" t="t" r="r" b="b"/>
            <a:pathLst>
              <a:path w="3817070" h="2604751">
                <a:moveTo>
                  <a:pt x="0" y="0"/>
                </a:moveTo>
                <a:lnTo>
                  <a:pt x="3817070" y="0"/>
                </a:lnTo>
                <a:lnTo>
                  <a:pt x="3817070" y="2604752"/>
                </a:lnTo>
                <a:lnTo>
                  <a:pt x="0" y="2604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237" b="-25304"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6" name="Freeform 6"/>
          <p:cNvSpPr/>
          <p:nvPr/>
        </p:nvSpPr>
        <p:spPr>
          <a:xfrm>
            <a:off x="10560300" y="5647074"/>
            <a:ext cx="4189716" cy="1030862"/>
          </a:xfrm>
          <a:custGeom>
            <a:avLst/>
            <a:gdLst/>
            <a:ahLst/>
            <a:cxnLst/>
            <a:rect l="l" t="t" r="r" b="b"/>
            <a:pathLst>
              <a:path w="4189716" h="1030862">
                <a:moveTo>
                  <a:pt x="0" y="0"/>
                </a:moveTo>
                <a:lnTo>
                  <a:pt x="4189716" y="0"/>
                </a:lnTo>
                <a:lnTo>
                  <a:pt x="4189716" y="1030861"/>
                </a:lnTo>
                <a:lnTo>
                  <a:pt x="0" y="10308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509429-F0A4-9980-E0A7-BEADEFF0E77C}"/>
              </a:ext>
            </a:extLst>
          </p:cNvPr>
          <p:cNvSpPr txBox="1"/>
          <p:nvPr/>
        </p:nvSpPr>
        <p:spPr>
          <a:xfrm>
            <a:off x="1600200" y="7429500"/>
            <a:ext cx="754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dirty="0">
                <a:latin typeface="Poppins" panose="00000500000000000000" pitchFamily="2" charset="0"/>
                <a:cs typeface="Poppins" panose="00000500000000000000" pitchFamily="2" charset="0"/>
              </a:rPr>
              <a:t>Espacio para Preguntas.</a:t>
            </a:r>
            <a:endParaRPr lang="es-CL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2489</TotalTime>
  <Words>794</Words>
  <Application>Microsoft Office PowerPoint</Application>
  <PresentationFormat>Personalizado</PresentationFormat>
  <Paragraphs>127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Open Sans Bold</vt:lpstr>
      <vt:lpstr>Telegraf</vt:lpstr>
      <vt:lpstr>Arial</vt:lpstr>
      <vt:lpstr>Poppins</vt:lpstr>
      <vt:lpstr>Aptos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</dc:title>
  <cp:lastModifiedBy>Sebastián Eduardo Silva Salinas</cp:lastModifiedBy>
  <cp:revision>17</cp:revision>
  <dcterms:created xsi:type="dcterms:W3CDTF">2006-08-16T00:00:00Z</dcterms:created>
  <dcterms:modified xsi:type="dcterms:W3CDTF">2026-06-27T03:14:02Z</dcterms:modified>
  <dc:identifier>DAHGewfgqNk</dc:identifier>
</cp:coreProperties>
</file>